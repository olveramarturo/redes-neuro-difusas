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7" r:id="rId7"/>
    <p:sldId id="261" r:id="rId8"/>
    <p:sldId id="262" r:id="rId9"/>
    <p:sldId id="263" r:id="rId10"/>
    <p:sldId id="264" r:id="rId11"/>
    <p:sldId id="268"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varScale="1">
        <p:scale>
          <a:sx n="147" d="100"/>
          <a:sy n="147" d="100"/>
        </p:scale>
        <p:origin x="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2618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AABD8-711A-0E0F-91C4-F03778A0D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2F44A-62F1-9857-7685-DB1865294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154E4-BE35-772C-9ACE-0CA47ADE09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1D304C-C576-0E35-B497-8B02B87F65E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9356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77CC-D889-5B9F-51CA-9521A28F3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26FBA-B145-0D75-50D0-5C805F2ACF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FFEDE-00D0-D5D8-CA0F-FFD3119C61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12508A-11BF-178E-7895-78AFC289EDE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81263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5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365760" y="640080"/>
            <a:ext cx="841248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Red Neurodifusa</a:t>
            </a:r>
            <a:endParaRPr lang="en-US" sz="4400" dirty="0"/>
          </a:p>
        </p:txBody>
      </p:sp>
      <p:sp>
        <p:nvSpPr>
          <p:cNvPr id="4" name="Text 2"/>
          <p:cNvSpPr/>
          <p:nvPr/>
        </p:nvSpPr>
        <p:spPr>
          <a:xfrm>
            <a:off x="365760" y="1417320"/>
            <a:ext cx="8412480" cy="731520"/>
          </a:xfrm>
          <a:prstGeom prst="rect">
            <a:avLst/>
          </a:prstGeom>
          <a:noFill/>
          <a:ln/>
        </p:spPr>
        <p:txBody>
          <a:bodyPr wrap="square" lIns="0" tIns="0" rIns="0" bIns="0" rtlCol="0" anchor="ctr"/>
          <a:lstStyle/>
          <a:p>
            <a:pPr marL="0" indent="0" algn="l">
              <a:buNone/>
            </a:pPr>
            <a:r>
              <a:rPr lang="en-US" sz="3600" dirty="0">
                <a:solidFill>
                  <a:srgbClr val="A8D4F5"/>
                </a:solidFill>
                <a:latin typeface="Calibri" pitchFamily="34" charset="0"/>
                <a:ea typeface="Calibri" pitchFamily="34" charset="-122"/>
                <a:cs typeface="Calibri" pitchFamily="34" charset="-120"/>
              </a:rPr>
              <a:t>Modelo Takagi-</a:t>
            </a:r>
            <a:r>
              <a:rPr lang="en-US" sz="3600" dirty="0" err="1">
                <a:solidFill>
                  <a:srgbClr val="A8D4F5"/>
                </a:solidFill>
                <a:latin typeface="Calibri" pitchFamily="34" charset="0"/>
                <a:ea typeface="Calibri" pitchFamily="34" charset="-122"/>
                <a:cs typeface="Calibri" pitchFamily="34" charset="-120"/>
              </a:rPr>
              <a:t>Sugeno</a:t>
            </a:r>
            <a:r>
              <a:rPr lang="en-US" sz="3600" dirty="0">
                <a:solidFill>
                  <a:srgbClr val="A8D4F5"/>
                </a:solidFill>
                <a:latin typeface="Calibri" pitchFamily="34" charset="0"/>
                <a:ea typeface="Calibri" pitchFamily="34" charset="-122"/>
                <a:cs typeface="Calibri" pitchFamily="34" charset="-120"/>
              </a:rPr>
              <a:t> de Orden 0</a:t>
            </a:r>
            <a:endParaRPr lang="en-US" sz="3600" dirty="0"/>
          </a:p>
        </p:txBody>
      </p:sp>
      <p:sp>
        <p:nvSpPr>
          <p:cNvPr id="5" name="Shape 3"/>
          <p:cNvSpPr/>
          <p:nvPr/>
        </p:nvSpPr>
        <p:spPr>
          <a:xfrm>
            <a:off x="365760" y="2240280"/>
            <a:ext cx="7772400" cy="27432"/>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365760" y="2377440"/>
            <a:ext cx="8412480" cy="502920"/>
          </a:xfrm>
          <a:prstGeom prst="rect">
            <a:avLst/>
          </a:prstGeom>
          <a:noFill/>
          <a:ln/>
        </p:spPr>
        <p:txBody>
          <a:bodyPr wrap="square" lIns="0" tIns="0" rIns="0" bIns="0" rtlCol="0" anchor="ctr"/>
          <a:lstStyle/>
          <a:p>
            <a:pPr marL="0" indent="0" algn="l">
              <a:buNone/>
            </a:pPr>
            <a:r>
              <a:rPr lang="en-US" sz="2000" dirty="0">
                <a:solidFill>
                  <a:srgbClr val="D6E4F0"/>
                </a:solidFill>
                <a:latin typeface="Calibri" pitchFamily="34" charset="0"/>
                <a:ea typeface="Calibri" pitchFamily="34" charset="-122"/>
                <a:cs typeface="Calibri" pitchFamily="34" charset="-120"/>
              </a:rPr>
              <a:t>Fenómeno: Presión Arterial Sistólica → Riesgo Cardiovascular</a:t>
            </a:r>
            <a:endParaRPr lang="en-US" sz="2000" dirty="0"/>
          </a:p>
        </p:txBody>
      </p:sp>
      <p:sp>
        <p:nvSpPr>
          <p:cNvPr id="7" name="Shape 5"/>
          <p:cNvSpPr/>
          <p:nvPr/>
        </p:nvSpPr>
        <p:spPr>
          <a:xfrm>
            <a:off x="365760" y="3063240"/>
            <a:ext cx="1920240" cy="438912"/>
          </a:xfrm>
          <a:prstGeom prst="roundRect">
            <a:avLst>
              <a:gd name="adj" fmla="val 25000"/>
            </a:avLst>
          </a:prstGeom>
          <a:solidFill>
            <a:srgbClr val="1F5C8B"/>
          </a:solidFill>
          <a:ln w="12700">
            <a:solidFill>
              <a:srgbClr val="1F5C8B"/>
            </a:solidFill>
            <a:prstDash val="solid"/>
          </a:ln>
        </p:spPr>
        <p:txBody>
          <a:bodyPr/>
          <a:lstStyle/>
          <a:p>
            <a:endParaRPr lang="en-US"/>
          </a:p>
        </p:txBody>
      </p:sp>
      <p:sp>
        <p:nvSpPr>
          <p:cNvPr id="8" name="Text 6"/>
          <p:cNvSpPr/>
          <p:nvPr/>
        </p:nvSpPr>
        <p:spPr>
          <a:xfrm>
            <a:off x="365760" y="306324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Entrada</a:t>
            </a:r>
            <a:endParaRPr lang="en-US" sz="1400" dirty="0"/>
          </a:p>
        </p:txBody>
      </p:sp>
      <p:sp>
        <p:nvSpPr>
          <p:cNvPr id="9" name="Shape 7"/>
          <p:cNvSpPr/>
          <p:nvPr/>
        </p:nvSpPr>
        <p:spPr>
          <a:xfrm>
            <a:off x="2468880" y="3063240"/>
            <a:ext cx="1920240" cy="438912"/>
          </a:xfrm>
          <a:prstGeom prst="roundRect">
            <a:avLst>
              <a:gd name="adj" fmla="val 25000"/>
            </a:avLst>
          </a:prstGeom>
          <a:solidFill>
            <a:srgbClr val="117A8B"/>
          </a:solidFill>
          <a:ln w="12700">
            <a:solidFill>
              <a:srgbClr val="117A8B"/>
            </a:solidFill>
            <a:prstDash val="solid"/>
          </a:ln>
        </p:spPr>
        <p:txBody>
          <a:bodyPr/>
          <a:lstStyle/>
          <a:p>
            <a:endParaRPr lang="en-US"/>
          </a:p>
        </p:txBody>
      </p:sp>
      <p:sp>
        <p:nvSpPr>
          <p:cNvPr id="10" name="Text 8"/>
          <p:cNvSpPr/>
          <p:nvPr/>
        </p:nvSpPr>
        <p:spPr>
          <a:xfrm>
            <a:off x="2468880" y="306324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Salida</a:t>
            </a:r>
            <a:endParaRPr lang="en-US" sz="1400" dirty="0"/>
          </a:p>
        </p:txBody>
      </p:sp>
      <p:sp>
        <p:nvSpPr>
          <p:cNvPr id="11" name="Shape 9"/>
          <p:cNvSpPr/>
          <p:nvPr/>
        </p:nvSpPr>
        <p:spPr>
          <a:xfrm>
            <a:off x="4572000" y="3063240"/>
            <a:ext cx="1920240" cy="438912"/>
          </a:xfrm>
          <a:prstGeom prst="roundRect">
            <a:avLst>
              <a:gd name="adj" fmla="val 25000"/>
            </a:avLst>
          </a:prstGeom>
          <a:solidFill>
            <a:srgbClr val="1E8449"/>
          </a:solidFill>
          <a:ln w="12700">
            <a:solidFill>
              <a:srgbClr val="1E8449"/>
            </a:solidFill>
            <a:prstDash val="solid"/>
          </a:ln>
        </p:spPr>
        <p:txBody>
          <a:bodyPr/>
          <a:lstStyle/>
          <a:p>
            <a:endParaRPr lang="en-US"/>
          </a:p>
        </p:txBody>
      </p:sp>
      <p:sp>
        <p:nvSpPr>
          <p:cNvPr id="12" name="Text 10"/>
          <p:cNvSpPr/>
          <p:nvPr/>
        </p:nvSpPr>
        <p:spPr>
          <a:xfrm>
            <a:off x="4572000" y="306324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 Reglas</a:t>
            </a:r>
            <a:endParaRPr lang="en-US" sz="1400" dirty="0"/>
          </a:p>
        </p:txBody>
      </p:sp>
      <p:sp>
        <p:nvSpPr>
          <p:cNvPr id="13" name="Shape 11"/>
          <p:cNvSpPr/>
          <p:nvPr/>
        </p:nvSpPr>
        <p:spPr>
          <a:xfrm>
            <a:off x="6675120" y="3063240"/>
            <a:ext cx="1920240" cy="438912"/>
          </a:xfrm>
          <a:prstGeom prst="roundRect">
            <a:avLst>
              <a:gd name="adj" fmla="val 25000"/>
            </a:avLst>
          </a:prstGeom>
          <a:solidFill>
            <a:srgbClr val="C0392B"/>
          </a:solidFill>
          <a:ln w="12700">
            <a:solidFill>
              <a:srgbClr val="C0392B"/>
            </a:solidFill>
            <a:prstDash val="solid"/>
          </a:ln>
        </p:spPr>
        <p:txBody>
          <a:bodyPr/>
          <a:lstStyle/>
          <a:p>
            <a:endParaRPr lang="en-US"/>
          </a:p>
        </p:txBody>
      </p:sp>
      <p:sp>
        <p:nvSpPr>
          <p:cNvPr id="14" name="Text 12"/>
          <p:cNvSpPr/>
          <p:nvPr/>
        </p:nvSpPr>
        <p:spPr>
          <a:xfrm>
            <a:off x="6675120" y="3063240"/>
            <a:ext cx="192024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T-S Orden 0</a:t>
            </a:r>
            <a:endParaRPr lang="en-US" sz="1400" dirty="0"/>
          </a:p>
        </p:txBody>
      </p:sp>
      <p:sp>
        <p:nvSpPr>
          <p:cNvPr id="15" name="Text 13"/>
          <p:cNvSpPr/>
          <p:nvPr/>
        </p:nvSpPr>
        <p:spPr>
          <a:xfrm>
            <a:off x="365760" y="4480560"/>
            <a:ext cx="8412480" cy="411480"/>
          </a:xfrm>
          <a:prstGeom prst="rect">
            <a:avLst/>
          </a:prstGeom>
          <a:noFill/>
          <a:ln/>
        </p:spPr>
        <p:txBody>
          <a:bodyPr wrap="square" lIns="0" tIns="0" rIns="0" bIns="0" rtlCol="0" anchor="ctr"/>
          <a:lstStyle/>
          <a:p>
            <a:pPr marL="0" indent="0" algn="l">
              <a:buNone/>
            </a:pPr>
            <a:r>
              <a:rPr lang="en-US" sz="1300" dirty="0">
                <a:solidFill>
                  <a:srgbClr val="7FB3D3"/>
                </a:solidFill>
                <a:latin typeface="Calibri" pitchFamily="34" charset="0"/>
                <a:ea typeface="Calibri" pitchFamily="34" charset="-122"/>
                <a:cs typeface="Calibri" pitchFamily="34" charset="-120"/>
              </a:rPr>
              <a:t>Arturo Olvera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Fenómeno Modelado</a:t>
            </a:r>
            <a:endParaRPr lang="en-US" sz="2600" dirty="0"/>
          </a:p>
        </p:txBody>
      </p:sp>
      <p:sp>
        <p:nvSpPr>
          <p:cNvPr id="4" name="Text 2"/>
          <p:cNvSpPr/>
          <p:nvPr/>
        </p:nvSpPr>
        <p:spPr>
          <a:xfrm>
            <a:off x="365760" y="960120"/>
            <a:ext cx="4572000" cy="411480"/>
          </a:xfrm>
          <a:prstGeom prst="rect">
            <a:avLst/>
          </a:prstGeom>
          <a:noFill/>
          <a:ln/>
        </p:spPr>
        <p:txBody>
          <a:bodyPr wrap="square" lIns="0" tIns="0" rIns="0" bIns="0" rtlCol="0" anchor="ctr"/>
          <a:lstStyle/>
          <a:p>
            <a:pPr marL="0" indent="0">
              <a:buNone/>
            </a:pPr>
            <a:r>
              <a:rPr lang="en-US" sz="1800" b="1" dirty="0">
                <a:solidFill>
                  <a:srgbClr val="142850"/>
                </a:solidFill>
                <a:latin typeface="Calibri" pitchFamily="34" charset="0"/>
                <a:ea typeface="Calibri" pitchFamily="34" charset="-122"/>
                <a:cs typeface="Calibri" pitchFamily="34" charset="-120"/>
              </a:rPr>
              <a:t>¿Por qué presión arterial?</a:t>
            </a:r>
            <a:endParaRPr lang="en-US" sz="1800" dirty="0"/>
          </a:p>
        </p:txBody>
      </p:sp>
      <p:sp>
        <p:nvSpPr>
          <p:cNvPr id="5" name="Text 3"/>
          <p:cNvSpPr/>
          <p:nvPr/>
        </p:nvSpPr>
        <p:spPr>
          <a:xfrm>
            <a:off x="365760" y="1417320"/>
            <a:ext cx="4663440" cy="320040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La hipertensión es el principal factor de riesgo cardiovascular modificable a nivel mundial (OMS, 2023).</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La relación presión→riesgo no es lineal ni binaria: la transición entre rangos es gradual, lo que hace ideal una representación difusa.</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Una red Takagi-Sugeno de orden 0 es suficiente para capturar este comportamiento con una sola entrada y una sola salida constante por regla.</a:t>
            </a:r>
            <a:endParaRPr lang="en-US" sz="1400" dirty="0"/>
          </a:p>
        </p:txBody>
      </p:sp>
      <p:sp>
        <p:nvSpPr>
          <p:cNvPr id="6" name="Text 4"/>
          <p:cNvSpPr/>
          <p:nvPr/>
        </p:nvSpPr>
        <p:spPr>
          <a:xfrm>
            <a:off x="5303520" y="960120"/>
            <a:ext cx="3566160" cy="411480"/>
          </a:xfrm>
          <a:prstGeom prst="rect">
            <a:avLst/>
          </a:prstGeom>
          <a:noFill/>
          <a:ln/>
        </p:spPr>
        <p:txBody>
          <a:bodyPr wrap="square" lIns="0" tIns="0" rIns="0" bIns="0" rtlCol="0" anchor="ctr"/>
          <a:lstStyle/>
          <a:p>
            <a:pPr marL="0" indent="0">
              <a:buNone/>
            </a:pPr>
            <a:r>
              <a:rPr lang="en-US" sz="1400" b="1" dirty="0">
                <a:solidFill>
                  <a:srgbClr val="142850"/>
                </a:solidFill>
                <a:latin typeface="Calibri" pitchFamily="34" charset="0"/>
                <a:ea typeface="Calibri" pitchFamily="34" charset="-122"/>
                <a:cs typeface="Calibri" pitchFamily="34" charset="-120"/>
              </a:rPr>
              <a:t>Clasificación clínica (AHA/JNC-8)</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03520" y="1417320"/>
          <a:ext cx="3566160" cy="2194560"/>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3891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Categoría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4285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PAS (mmHg)</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4285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Riesgo</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42850"/>
                    </a:solidFill>
                  </a:tcPr>
                </a:tc>
                <a:extLst>
                  <a:ext uri="{0D108BD9-81ED-4DB2-BD59-A6C34878D82A}">
                    <a16:rowId xmlns:a16="http://schemas.microsoft.com/office/drawing/2014/main" val="10000"/>
                  </a:ext>
                </a:extLst>
              </a:tr>
              <a:tr h="438912">
                <a:tc>
                  <a:txBody>
                    <a:bodyPr/>
                    <a:lstStyle/>
                    <a:p>
                      <a:pPr marL="0" indent="0" algn="ctr">
                        <a:buNone/>
                      </a:pPr>
                      <a:r>
                        <a:rPr lang="en-US" sz="1300" b="1" dirty="0">
                          <a:solidFill>
                            <a:srgbClr val="145A32"/>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&lt; 120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45A32"/>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300" b="1" dirty="0">
                          <a:solidFill>
                            <a:srgbClr val="9A7D0A"/>
                          </a:solidFill>
                          <a:latin typeface="Calibri" pitchFamily="34" charset="0"/>
                          <a:ea typeface="Calibri" pitchFamily="34" charset="-122"/>
                          <a:cs typeface="Calibri" pitchFamily="34" charset="-120"/>
                        </a:rPr>
                        <a:t>Elevada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120 – 129</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9A7D0A"/>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ctr">
                        <a:buNone/>
                      </a:pPr>
                      <a:r>
                        <a:rPr lang="en-US" sz="1300" b="1" dirty="0">
                          <a:solidFill>
                            <a:srgbClr val="A04000"/>
                          </a:solidFill>
                          <a:latin typeface="Calibri" pitchFamily="34" charset="0"/>
                          <a:ea typeface="Calibri" pitchFamily="34" charset="-122"/>
                          <a:cs typeface="Calibri" pitchFamily="34" charset="-120"/>
                        </a:rPr>
                        <a:t>Alta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130 – 179</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A04000"/>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lang="en-US" sz="1300" b="1" dirty="0">
                          <a:solidFill>
                            <a:srgbClr val="C0392B"/>
                          </a:solidFill>
                          <a:latin typeface="Calibri" pitchFamily="34" charset="0"/>
                          <a:ea typeface="Calibri" pitchFamily="34" charset="-122"/>
                          <a:cs typeface="Calibri" pitchFamily="34" charset="-120"/>
                        </a:rPr>
                        <a:t>Crisis</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 180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0392B"/>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p:nvPr/>
        </p:nvSpPr>
        <p:spPr>
          <a:xfrm>
            <a:off x="365760" y="4663440"/>
            <a:ext cx="8503920" cy="320040"/>
          </a:xfrm>
          <a:prstGeom prst="rect">
            <a:avLst/>
          </a:prstGeom>
          <a:noFill/>
          <a:ln/>
        </p:spPr>
        <p:txBody>
          <a:bodyPr wrap="square" lIns="0" tIns="0" rIns="0" bIns="0" rtlCol="0" anchor="ctr"/>
          <a:lstStyle/>
          <a:p>
            <a:pPr marL="0" indent="0" algn="ctr">
              <a:buNone/>
            </a:pPr>
            <a:r>
              <a:rPr lang="en-US" sz="1200" i="1" dirty="0">
                <a:solidFill>
                  <a:srgbClr val="7F8C8D"/>
                </a:solidFill>
                <a:latin typeface="Calibri" pitchFamily="34" charset="0"/>
                <a:ea typeface="Calibri" pitchFamily="34" charset="-122"/>
                <a:cs typeface="Calibri" pitchFamily="34" charset="-120"/>
              </a:rPr>
              <a:t>Entrada: Presión arterial sistólica (80–200 mmHg)     Salida: Nivel de riesgo cardiovascular (0–10)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Conjuntos Difusos y Funciones de Pertenencia</a:t>
            </a:r>
            <a:endParaRPr lang="en-US" sz="2400" dirty="0"/>
          </a:p>
        </p:txBody>
      </p:sp>
      <p:sp>
        <p:nvSpPr>
          <p:cNvPr id="4" name="Text 2"/>
          <p:cNvSpPr/>
          <p:nvPr/>
        </p:nvSpPr>
        <p:spPr>
          <a:xfrm>
            <a:off x="365760" y="914400"/>
            <a:ext cx="8412480" cy="347472"/>
          </a:xfrm>
          <a:prstGeom prst="rect">
            <a:avLst/>
          </a:prstGeom>
          <a:noFill/>
          <a:ln/>
        </p:spPr>
        <p:txBody>
          <a:bodyPr wrap="square" lIns="0" tIns="0" rIns="0" bIns="0" rtlCol="0" anchor="ctr"/>
          <a:lstStyle/>
          <a:p>
            <a:pPr marL="0" indent="0">
              <a:buNone/>
            </a:pPr>
            <a:r>
              <a:rPr lang="en-US" sz="1600" b="1" dirty="0">
                <a:solidFill>
                  <a:srgbClr val="142850"/>
                </a:solidFill>
                <a:latin typeface="Calibri" pitchFamily="34" charset="0"/>
                <a:ea typeface="Calibri" pitchFamily="34" charset="-122"/>
                <a:cs typeface="Calibri" pitchFamily="34" charset="-120"/>
              </a:rPr>
              <a:t>Justificación de la elección de funciones:</a:t>
            </a:r>
            <a:endParaRPr lang="en-US" sz="1600" dirty="0"/>
          </a:p>
        </p:txBody>
      </p:sp>
      <p:sp>
        <p:nvSpPr>
          <p:cNvPr id="5" name="Text 3"/>
          <p:cNvSpPr/>
          <p:nvPr/>
        </p:nvSpPr>
        <p:spPr>
          <a:xfrm>
            <a:off x="365760" y="1280160"/>
            <a:ext cx="8412480" cy="594360"/>
          </a:xfrm>
          <a:prstGeom prst="rect">
            <a:avLst/>
          </a:prstGeom>
          <a:noFill/>
          <a:ln/>
        </p:spPr>
        <p:txBody>
          <a:bodyPr wrap="square" lIns="0" tIns="0" rIns="0" bIns="0"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Trapezoidales en los extremos (Normal y Muy Alta): </a:t>
            </a:r>
            <a:r>
              <a:rPr lang="en-US" sz="1300" dirty="0">
                <a:solidFill>
                  <a:srgbClr val="2C3E50"/>
                </a:solidFill>
                <a:latin typeface="Calibri" pitchFamily="34" charset="0"/>
                <a:ea typeface="Calibri" pitchFamily="34" charset="-122"/>
                <a:cs typeface="Calibri" pitchFamily="34" charset="-120"/>
              </a:rPr>
              <a:t>Las categorías extremas son abiertas — cualquier valor debajo de 80 o encima de 200 sigue siendo Normal o Crisis. La meseta plana de la trapezoidal modela esto sin saturación abrupta.</a:t>
            </a:r>
            <a:endParaRPr lang="en-US" sz="1300" dirty="0"/>
          </a:p>
        </p:txBody>
      </p:sp>
      <p:sp>
        <p:nvSpPr>
          <p:cNvPr id="6" name="Text 4"/>
          <p:cNvSpPr/>
          <p:nvPr/>
        </p:nvSpPr>
        <p:spPr>
          <a:xfrm>
            <a:off x="365760" y="1920240"/>
            <a:ext cx="8412480" cy="594360"/>
          </a:xfrm>
          <a:prstGeom prst="rect">
            <a:avLst/>
          </a:prstGeom>
          <a:noFill/>
          <a:ln/>
        </p:spPr>
        <p:txBody>
          <a:bodyPr wrap="square" lIns="0" tIns="0" rIns="0" bIns="0" rtlCol="0" anchor="ctr"/>
          <a:lstStyle/>
          <a:p>
            <a:pPr marL="0" indent="0">
              <a:buNone/>
            </a:pPr>
            <a:r>
              <a:rPr lang="en-US" sz="1300" b="1" dirty="0">
                <a:solidFill>
                  <a:srgbClr val="2C3E50"/>
                </a:solidFill>
                <a:latin typeface="Calibri" pitchFamily="34" charset="0"/>
                <a:ea typeface="Calibri" pitchFamily="34" charset="-122"/>
                <a:cs typeface="Calibri" pitchFamily="34" charset="-120"/>
              </a:rPr>
              <a:t>Triangulares en los intermedios (Elevada y Alta): </a:t>
            </a:r>
            <a:r>
              <a:rPr lang="en-US" sz="1300" dirty="0">
                <a:solidFill>
                  <a:srgbClr val="2C3E50"/>
                </a:solidFill>
                <a:latin typeface="Calibri" pitchFamily="34" charset="0"/>
                <a:ea typeface="Calibri" pitchFamily="34" charset="-122"/>
                <a:cs typeface="Calibri" pitchFamily="34" charset="-120"/>
              </a:rPr>
              <a:t>Los rangos intermedios tienen un punto de máxima pertenencia bien definido (pico) con transiciones simétricas. La triangular captura este comportamiento de forma simple y computacionalmente eficiente.</a:t>
            </a:r>
            <a:endParaRPr lang="en-US" sz="1300" dirty="0"/>
          </a:p>
        </p:txBody>
      </p:sp>
      <p:sp>
        <p:nvSpPr>
          <p:cNvPr id="7" name="Text 5"/>
          <p:cNvSpPr/>
          <p:nvPr/>
        </p:nvSpPr>
        <p:spPr>
          <a:xfrm>
            <a:off x="365760" y="2651760"/>
            <a:ext cx="8412480" cy="347472"/>
          </a:xfrm>
          <a:prstGeom prst="rect">
            <a:avLst/>
          </a:prstGeom>
          <a:noFill/>
          <a:ln/>
        </p:spPr>
        <p:txBody>
          <a:bodyPr wrap="square" lIns="0" tIns="0" rIns="0" bIns="0" rtlCol="0" anchor="ctr"/>
          <a:lstStyle/>
          <a:p>
            <a:pPr marL="0" indent="0">
              <a:buNone/>
            </a:pPr>
            <a:r>
              <a:rPr lang="en-US" sz="1600" b="1" dirty="0">
                <a:solidFill>
                  <a:srgbClr val="142850"/>
                </a:solidFill>
                <a:latin typeface="Calibri" pitchFamily="34" charset="0"/>
                <a:ea typeface="Calibri" pitchFamily="34" charset="-122"/>
                <a:cs typeface="Calibri" pitchFamily="34" charset="-120"/>
              </a:rPr>
              <a:t>Parámetros de los conjuntos difusos: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3063240"/>
          <a:ext cx="8503920" cy="196596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9319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Conjunto</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Tipo</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Parámetros</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Constante T-S</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Color</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145A32"/>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Trapezoidal</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[80, 80, 115, 125]</a:t>
                      </a:r>
                      <a:endParaRPr lang="en-US" sz="11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b="1" dirty="0">
                          <a:solidFill>
                            <a:srgbClr val="145A32"/>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1E8449"/>
                          </a:solidFill>
                          <a:latin typeface="Calibri" pitchFamily="34" charset="0"/>
                          <a:ea typeface="Calibri" pitchFamily="34" charset="-122"/>
                          <a:cs typeface="Calibri" pitchFamily="34" charset="-120"/>
                        </a:rPr>
                        <a:t>Verde (#2ecc71)</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9A7D0A"/>
                          </a:solidFill>
                          <a:latin typeface="Calibri" pitchFamily="34" charset="0"/>
                          <a:ea typeface="Calibri" pitchFamily="34" charset="-122"/>
                          <a:cs typeface="Calibri" pitchFamily="34" charset="-120"/>
                        </a:rPr>
                        <a:t>Elevada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Triangular</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[115, 130, 145]</a:t>
                      </a:r>
                      <a:endParaRPr lang="en-US" sz="11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b="1" dirty="0">
                          <a:solidFill>
                            <a:srgbClr val="9A7D0A"/>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9A7D0A"/>
                          </a:solidFill>
                          <a:latin typeface="Calibri" pitchFamily="34" charset="0"/>
                          <a:ea typeface="Calibri" pitchFamily="34" charset="-122"/>
                          <a:cs typeface="Calibri" pitchFamily="34" charset="-120"/>
                        </a:rPr>
                        <a:t>Amarillo (#f1c40f)</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A04000"/>
                          </a:solidFill>
                          <a:latin typeface="Calibri" pitchFamily="34" charset="0"/>
                          <a:ea typeface="Calibri" pitchFamily="34" charset="-122"/>
                          <a:cs typeface="Calibri" pitchFamily="34" charset="-120"/>
                        </a:rPr>
                        <a:t>Alta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Triangular</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[135, 150, 170]</a:t>
                      </a:r>
                      <a:endParaRPr lang="en-US" sz="11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b="1" dirty="0">
                          <a:solidFill>
                            <a:srgbClr val="A04000"/>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A04000"/>
                          </a:solidFill>
                          <a:latin typeface="Calibri" pitchFamily="34" charset="0"/>
                          <a:ea typeface="Calibri" pitchFamily="34" charset="-122"/>
                          <a:cs typeface="Calibri" pitchFamily="34" charset="-120"/>
                        </a:rPr>
                        <a:t>Naranja (#e67e22)</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rgbClr val="C0392B"/>
                          </a:solidFill>
                          <a:latin typeface="Calibri" pitchFamily="34" charset="0"/>
                          <a:ea typeface="Calibri" pitchFamily="34" charset="-122"/>
                          <a:cs typeface="Calibri" pitchFamily="34" charset="-120"/>
                        </a:rPr>
                        <a:t>Muy Alta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Trapezoidal</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[160, 175, 200, 200]</a:t>
                      </a:r>
                      <a:endParaRPr lang="en-US" sz="11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b="1" dirty="0">
                          <a:solidFill>
                            <a:srgbClr val="C0392B"/>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300" dirty="0">
                          <a:solidFill>
                            <a:srgbClr val="C0392B"/>
                          </a:solidFill>
                          <a:latin typeface="Calibri" pitchFamily="34" charset="0"/>
                          <a:ea typeface="Calibri" pitchFamily="34" charset="-122"/>
                          <a:cs typeface="Calibri" pitchFamily="34" charset="-120"/>
                        </a:rPr>
                        <a:t>Rojo (#e74c3c)</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Reglas de Inferencia – Takagi-Sugeno Orden 0</a:t>
            </a:r>
            <a:endParaRPr lang="en-US" sz="2400" dirty="0"/>
          </a:p>
        </p:txBody>
      </p:sp>
      <p:sp>
        <p:nvSpPr>
          <p:cNvPr id="4" name="Text 2"/>
          <p:cNvSpPr/>
          <p:nvPr/>
        </p:nvSpPr>
        <p:spPr>
          <a:xfrm>
            <a:off x="365760" y="914400"/>
            <a:ext cx="8412480" cy="68580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En T-S orden 0, el consecuente de cada regla es una constante (no una función de la entrada). La salida final es el promedio ponderado de todos los consecuentes, usando como pesos los grados de pertenencia normalizados:</a:t>
            </a:r>
            <a:endParaRPr lang="en-US" sz="1300" dirty="0"/>
          </a:p>
        </p:txBody>
      </p:sp>
      <p:sp>
        <p:nvSpPr>
          <p:cNvPr id="5" name="Shape 3"/>
          <p:cNvSpPr/>
          <p:nvPr/>
        </p:nvSpPr>
        <p:spPr>
          <a:xfrm>
            <a:off x="1828800" y="1645920"/>
            <a:ext cx="5486400" cy="594360"/>
          </a:xfrm>
          <a:prstGeom prst="rect">
            <a:avLst/>
          </a:prstGeom>
          <a:solidFill>
            <a:srgbClr val="D6E4F0"/>
          </a:solidFill>
          <a:ln w="12700">
            <a:solidFill>
              <a:srgbClr val="1F5C8B"/>
            </a:solidFill>
            <a:prstDash val="solid"/>
          </a:ln>
        </p:spPr>
        <p:txBody>
          <a:bodyPr/>
          <a:lstStyle/>
          <a:p>
            <a:endParaRPr lang="en-US"/>
          </a:p>
        </p:txBody>
      </p:sp>
      <p:sp>
        <p:nvSpPr>
          <p:cNvPr id="6" name="Text 4"/>
          <p:cNvSpPr/>
          <p:nvPr/>
        </p:nvSpPr>
        <p:spPr>
          <a:xfrm>
            <a:off x="1828800" y="1645920"/>
            <a:ext cx="5486400" cy="594360"/>
          </a:xfrm>
          <a:prstGeom prst="rect">
            <a:avLst/>
          </a:prstGeom>
          <a:noFill/>
          <a:ln/>
        </p:spPr>
        <p:txBody>
          <a:bodyPr wrap="square" lIns="0" tIns="0" rIns="0" bIns="0" rtlCol="0" anchor="ctr"/>
          <a:lstStyle/>
          <a:p>
            <a:pPr marL="0" indent="0" algn="ctr">
              <a:buNone/>
            </a:pPr>
            <a:r>
              <a:rPr lang="en-US" sz="1400" b="1" dirty="0">
                <a:solidFill>
                  <a:srgbClr val="142850"/>
                </a:solidFill>
                <a:latin typeface="Calibri" pitchFamily="34" charset="0"/>
                <a:ea typeface="Calibri" pitchFamily="34" charset="-122"/>
                <a:cs typeface="Calibri" pitchFamily="34" charset="-120"/>
              </a:rPr>
              <a:t>y = Σ ( w̄ᵢ · fᵢ )   donde   w̄ᵢ = wᵢ / Σwⱼ   y   fᵢ = constante</a:t>
            </a:r>
            <a:endParaRPr lang="en-US" sz="1400" dirty="0"/>
          </a:p>
        </p:txBody>
      </p:sp>
      <p:sp>
        <p:nvSpPr>
          <p:cNvPr id="7" name="Shape 5"/>
          <p:cNvSpPr/>
          <p:nvPr/>
        </p:nvSpPr>
        <p:spPr>
          <a:xfrm>
            <a:off x="365760" y="2423160"/>
            <a:ext cx="1965960" cy="2286000"/>
          </a:xfrm>
          <a:prstGeom prst="rect">
            <a:avLst/>
          </a:prstGeom>
          <a:solidFill>
            <a:srgbClr val="EAFAF1"/>
          </a:solidFill>
          <a:ln w="19050">
            <a:solidFill>
              <a:srgbClr val="1E8449"/>
            </a:solidFill>
            <a:prstDash val="solid"/>
          </a:ln>
        </p:spPr>
        <p:txBody>
          <a:bodyPr/>
          <a:lstStyle/>
          <a:p>
            <a:endParaRPr lang="en-US"/>
          </a:p>
        </p:txBody>
      </p:sp>
      <p:sp>
        <p:nvSpPr>
          <p:cNvPr id="8" name="Shape 6"/>
          <p:cNvSpPr/>
          <p:nvPr/>
        </p:nvSpPr>
        <p:spPr>
          <a:xfrm>
            <a:off x="1051560" y="2487168"/>
            <a:ext cx="548640" cy="548640"/>
          </a:xfrm>
          <a:prstGeom prst="ellipse">
            <a:avLst/>
          </a:prstGeom>
          <a:solidFill>
            <a:srgbClr val="1E8449"/>
          </a:solidFill>
          <a:ln w="12700">
            <a:solidFill>
              <a:srgbClr val="1E8449"/>
            </a:solidFill>
            <a:prstDash val="solid"/>
          </a:ln>
        </p:spPr>
        <p:txBody>
          <a:bodyPr/>
          <a:lstStyle/>
          <a:p>
            <a:endParaRPr lang="en-US"/>
          </a:p>
        </p:txBody>
      </p:sp>
      <p:sp>
        <p:nvSpPr>
          <p:cNvPr id="9" name="Text 7"/>
          <p:cNvSpPr/>
          <p:nvPr/>
        </p:nvSpPr>
        <p:spPr>
          <a:xfrm>
            <a:off x="1051560" y="2487168"/>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R1</a:t>
            </a:r>
            <a:endParaRPr lang="en-US" sz="1300" dirty="0"/>
          </a:p>
        </p:txBody>
      </p:sp>
      <p:sp>
        <p:nvSpPr>
          <p:cNvPr id="10" name="Text 8"/>
          <p:cNvSpPr/>
          <p:nvPr/>
        </p:nvSpPr>
        <p:spPr>
          <a:xfrm>
            <a:off x="438912" y="3127248"/>
            <a:ext cx="1828800" cy="457200"/>
          </a:xfrm>
          <a:prstGeom prst="rect">
            <a:avLst/>
          </a:prstGeom>
          <a:noFill/>
          <a:ln/>
        </p:spPr>
        <p:txBody>
          <a:bodyPr wrap="square" lIns="0" tIns="0" rIns="0" bIns="0"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Si presión es Normal</a:t>
            </a:r>
            <a:endParaRPr lang="en-US" sz="1300" dirty="0"/>
          </a:p>
        </p:txBody>
      </p:sp>
      <p:sp>
        <p:nvSpPr>
          <p:cNvPr id="11" name="Text 9"/>
          <p:cNvSpPr/>
          <p:nvPr/>
        </p:nvSpPr>
        <p:spPr>
          <a:xfrm>
            <a:off x="438912" y="3630168"/>
            <a:ext cx="1828800" cy="502920"/>
          </a:xfrm>
          <a:prstGeom prst="rect">
            <a:avLst/>
          </a:prstGeom>
          <a:noFill/>
          <a:ln/>
        </p:spPr>
        <p:txBody>
          <a:bodyPr wrap="square" lIns="0" tIns="0" rIns="0" bIns="0" rtlCol="0" anchor="ctr"/>
          <a:lstStyle/>
          <a:p>
            <a:pPr marL="0" indent="0" algn="ctr">
              <a:buNone/>
            </a:pPr>
            <a:r>
              <a:rPr lang="en-US" sz="1600" b="1" dirty="0">
                <a:solidFill>
                  <a:srgbClr val="1E8449"/>
                </a:solidFill>
                <a:latin typeface="Calibri" pitchFamily="34" charset="0"/>
                <a:ea typeface="Calibri" pitchFamily="34" charset="-122"/>
                <a:cs typeface="Calibri" pitchFamily="34" charset="-120"/>
              </a:rPr>
              <a:t>→  riesgo = 1.5</a:t>
            </a:r>
            <a:endParaRPr lang="en-US" sz="1600" dirty="0"/>
          </a:p>
        </p:txBody>
      </p:sp>
      <p:sp>
        <p:nvSpPr>
          <p:cNvPr id="12" name="Shape 10"/>
          <p:cNvSpPr/>
          <p:nvPr/>
        </p:nvSpPr>
        <p:spPr>
          <a:xfrm>
            <a:off x="2514600" y="2423160"/>
            <a:ext cx="1965960" cy="2286000"/>
          </a:xfrm>
          <a:prstGeom prst="rect">
            <a:avLst/>
          </a:prstGeom>
          <a:solidFill>
            <a:srgbClr val="FEFDE7"/>
          </a:solidFill>
          <a:ln w="19050">
            <a:solidFill>
              <a:srgbClr val="9A7D0A"/>
            </a:solidFill>
            <a:prstDash val="solid"/>
          </a:ln>
        </p:spPr>
        <p:txBody>
          <a:bodyPr/>
          <a:lstStyle/>
          <a:p>
            <a:endParaRPr lang="en-US"/>
          </a:p>
        </p:txBody>
      </p:sp>
      <p:sp>
        <p:nvSpPr>
          <p:cNvPr id="13" name="Shape 11"/>
          <p:cNvSpPr/>
          <p:nvPr/>
        </p:nvSpPr>
        <p:spPr>
          <a:xfrm>
            <a:off x="3200400" y="2487168"/>
            <a:ext cx="548640" cy="548640"/>
          </a:xfrm>
          <a:prstGeom prst="ellipse">
            <a:avLst/>
          </a:prstGeom>
          <a:solidFill>
            <a:srgbClr val="9A7D0A"/>
          </a:solidFill>
          <a:ln w="12700">
            <a:solidFill>
              <a:srgbClr val="9A7D0A"/>
            </a:solidFill>
            <a:prstDash val="solid"/>
          </a:ln>
        </p:spPr>
        <p:txBody>
          <a:bodyPr/>
          <a:lstStyle/>
          <a:p>
            <a:endParaRPr lang="en-US"/>
          </a:p>
        </p:txBody>
      </p:sp>
      <p:sp>
        <p:nvSpPr>
          <p:cNvPr id="14" name="Text 12"/>
          <p:cNvSpPr/>
          <p:nvPr/>
        </p:nvSpPr>
        <p:spPr>
          <a:xfrm>
            <a:off x="3200400" y="2487168"/>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R2</a:t>
            </a:r>
            <a:endParaRPr lang="en-US" sz="1300" dirty="0"/>
          </a:p>
        </p:txBody>
      </p:sp>
      <p:sp>
        <p:nvSpPr>
          <p:cNvPr id="15" name="Text 13"/>
          <p:cNvSpPr/>
          <p:nvPr/>
        </p:nvSpPr>
        <p:spPr>
          <a:xfrm>
            <a:off x="2587752" y="3127248"/>
            <a:ext cx="1828800" cy="457200"/>
          </a:xfrm>
          <a:prstGeom prst="rect">
            <a:avLst/>
          </a:prstGeom>
          <a:noFill/>
          <a:ln/>
        </p:spPr>
        <p:txBody>
          <a:bodyPr wrap="square" lIns="0" tIns="0" rIns="0" bIns="0"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Si presión es Elevada</a:t>
            </a:r>
            <a:endParaRPr lang="en-US" sz="1300" dirty="0"/>
          </a:p>
        </p:txBody>
      </p:sp>
      <p:sp>
        <p:nvSpPr>
          <p:cNvPr id="16" name="Text 14"/>
          <p:cNvSpPr/>
          <p:nvPr/>
        </p:nvSpPr>
        <p:spPr>
          <a:xfrm>
            <a:off x="2587752" y="3630168"/>
            <a:ext cx="1828800" cy="502920"/>
          </a:xfrm>
          <a:prstGeom prst="rect">
            <a:avLst/>
          </a:prstGeom>
          <a:noFill/>
          <a:ln/>
        </p:spPr>
        <p:txBody>
          <a:bodyPr wrap="square" lIns="0" tIns="0" rIns="0" bIns="0" rtlCol="0" anchor="ctr"/>
          <a:lstStyle/>
          <a:p>
            <a:pPr marL="0" indent="0" algn="ctr">
              <a:buNone/>
            </a:pPr>
            <a:r>
              <a:rPr lang="en-US" sz="1600" b="1" dirty="0">
                <a:solidFill>
                  <a:srgbClr val="9A7D0A"/>
                </a:solidFill>
                <a:latin typeface="Calibri" pitchFamily="34" charset="0"/>
                <a:ea typeface="Calibri" pitchFamily="34" charset="-122"/>
                <a:cs typeface="Calibri" pitchFamily="34" charset="-120"/>
              </a:rPr>
              <a:t>→  riesgo = 4.0</a:t>
            </a:r>
            <a:endParaRPr lang="en-US" sz="1600" dirty="0"/>
          </a:p>
        </p:txBody>
      </p:sp>
      <p:sp>
        <p:nvSpPr>
          <p:cNvPr id="17" name="Shape 15"/>
          <p:cNvSpPr/>
          <p:nvPr/>
        </p:nvSpPr>
        <p:spPr>
          <a:xfrm>
            <a:off x="4663440" y="2423160"/>
            <a:ext cx="1965960" cy="2286000"/>
          </a:xfrm>
          <a:prstGeom prst="rect">
            <a:avLst/>
          </a:prstGeom>
          <a:solidFill>
            <a:srgbClr val="FEF5E7"/>
          </a:solidFill>
          <a:ln w="19050">
            <a:solidFill>
              <a:srgbClr val="A04000"/>
            </a:solidFill>
            <a:prstDash val="solid"/>
          </a:ln>
        </p:spPr>
        <p:txBody>
          <a:bodyPr/>
          <a:lstStyle/>
          <a:p>
            <a:endParaRPr lang="en-US"/>
          </a:p>
        </p:txBody>
      </p:sp>
      <p:sp>
        <p:nvSpPr>
          <p:cNvPr id="18" name="Shape 16"/>
          <p:cNvSpPr/>
          <p:nvPr/>
        </p:nvSpPr>
        <p:spPr>
          <a:xfrm>
            <a:off x="5349240" y="2487168"/>
            <a:ext cx="548640" cy="548640"/>
          </a:xfrm>
          <a:prstGeom prst="ellipse">
            <a:avLst/>
          </a:prstGeom>
          <a:solidFill>
            <a:srgbClr val="A04000"/>
          </a:solidFill>
          <a:ln w="12700">
            <a:solidFill>
              <a:srgbClr val="A04000"/>
            </a:solidFill>
            <a:prstDash val="solid"/>
          </a:ln>
        </p:spPr>
        <p:txBody>
          <a:bodyPr/>
          <a:lstStyle/>
          <a:p>
            <a:endParaRPr lang="en-US"/>
          </a:p>
        </p:txBody>
      </p:sp>
      <p:sp>
        <p:nvSpPr>
          <p:cNvPr id="19" name="Text 17"/>
          <p:cNvSpPr/>
          <p:nvPr/>
        </p:nvSpPr>
        <p:spPr>
          <a:xfrm>
            <a:off x="5349240" y="2487168"/>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R3</a:t>
            </a:r>
            <a:endParaRPr lang="en-US" sz="1300" dirty="0"/>
          </a:p>
        </p:txBody>
      </p:sp>
      <p:sp>
        <p:nvSpPr>
          <p:cNvPr id="20" name="Text 18"/>
          <p:cNvSpPr/>
          <p:nvPr/>
        </p:nvSpPr>
        <p:spPr>
          <a:xfrm>
            <a:off x="4736592" y="3127248"/>
            <a:ext cx="1828800" cy="457200"/>
          </a:xfrm>
          <a:prstGeom prst="rect">
            <a:avLst/>
          </a:prstGeom>
          <a:noFill/>
          <a:ln/>
        </p:spPr>
        <p:txBody>
          <a:bodyPr wrap="square" lIns="0" tIns="0" rIns="0" bIns="0"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Si presión es Alta</a:t>
            </a:r>
            <a:endParaRPr lang="en-US" sz="1300" dirty="0"/>
          </a:p>
        </p:txBody>
      </p:sp>
      <p:sp>
        <p:nvSpPr>
          <p:cNvPr id="21" name="Text 19"/>
          <p:cNvSpPr/>
          <p:nvPr/>
        </p:nvSpPr>
        <p:spPr>
          <a:xfrm>
            <a:off x="4736592" y="3630168"/>
            <a:ext cx="1828800" cy="502920"/>
          </a:xfrm>
          <a:prstGeom prst="rect">
            <a:avLst/>
          </a:prstGeom>
          <a:noFill/>
          <a:ln/>
        </p:spPr>
        <p:txBody>
          <a:bodyPr wrap="square" lIns="0" tIns="0" rIns="0" bIns="0" rtlCol="0" anchor="ctr"/>
          <a:lstStyle/>
          <a:p>
            <a:pPr marL="0" indent="0" algn="ctr">
              <a:buNone/>
            </a:pPr>
            <a:r>
              <a:rPr lang="en-US" sz="1600" b="1" dirty="0">
                <a:solidFill>
                  <a:srgbClr val="A04000"/>
                </a:solidFill>
                <a:latin typeface="Calibri" pitchFamily="34" charset="0"/>
                <a:ea typeface="Calibri" pitchFamily="34" charset="-122"/>
                <a:cs typeface="Calibri" pitchFamily="34" charset="-120"/>
              </a:rPr>
              <a:t>→  riesgo = 6.5</a:t>
            </a:r>
            <a:endParaRPr lang="en-US" sz="1600" dirty="0"/>
          </a:p>
        </p:txBody>
      </p:sp>
      <p:sp>
        <p:nvSpPr>
          <p:cNvPr id="22" name="Shape 20"/>
          <p:cNvSpPr/>
          <p:nvPr/>
        </p:nvSpPr>
        <p:spPr>
          <a:xfrm>
            <a:off x="6812280" y="2423160"/>
            <a:ext cx="1965960" cy="2286000"/>
          </a:xfrm>
          <a:prstGeom prst="rect">
            <a:avLst/>
          </a:prstGeom>
          <a:solidFill>
            <a:srgbClr val="FDEDEC"/>
          </a:solidFill>
          <a:ln w="19050">
            <a:solidFill>
              <a:srgbClr val="C0392B"/>
            </a:solidFill>
            <a:prstDash val="solid"/>
          </a:ln>
        </p:spPr>
        <p:txBody>
          <a:bodyPr/>
          <a:lstStyle/>
          <a:p>
            <a:endParaRPr lang="en-US"/>
          </a:p>
        </p:txBody>
      </p:sp>
      <p:sp>
        <p:nvSpPr>
          <p:cNvPr id="23" name="Shape 21"/>
          <p:cNvSpPr/>
          <p:nvPr/>
        </p:nvSpPr>
        <p:spPr>
          <a:xfrm>
            <a:off x="7498080" y="2487168"/>
            <a:ext cx="548640" cy="548640"/>
          </a:xfrm>
          <a:prstGeom prst="ellipse">
            <a:avLst/>
          </a:prstGeom>
          <a:solidFill>
            <a:srgbClr val="C0392B"/>
          </a:solidFill>
          <a:ln w="12700">
            <a:solidFill>
              <a:srgbClr val="C0392B"/>
            </a:solidFill>
            <a:prstDash val="solid"/>
          </a:ln>
        </p:spPr>
        <p:txBody>
          <a:bodyPr/>
          <a:lstStyle/>
          <a:p>
            <a:endParaRPr lang="en-US"/>
          </a:p>
        </p:txBody>
      </p:sp>
      <p:sp>
        <p:nvSpPr>
          <p:cNvPr id="24" name="Text 22"/>
          <p:cNvSpPr/>
          <p:nvPr/>
        </p:nvSpPr>
        <p:spPr>
          <a:xfrm>
            <a:off x="7498080" y="2487168"/>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R4</a:t>
            </a:r>
            <a:endParaRPr lang="en-US" sz="1300" dirty="0"/>
          </a:p>
        </p:txBody>
      </p:sp>
      <p:sp>
        <p:nvSpPr>
          <p:cNvPr id="25" name="Text 23"/>
          <p:cNvSpPr/>
          <p:nvPr/>
        </p:nvSpPr>
        <p:spPr>
          <a:xfrm>
            <a:off x="6885432" y="3127248"/>
            <a:ext cx="1828800" cy="457200"/>
          </a:xfrm>
          <a:prstGeom prst="rect">
            <a:avLst/>
          </a:prstGeom>
          <a:noFill/>
          <a:ln/>
        </p:spPr>
        <p:txBody>
          <a:bodyPr wrap="square" lIns="0" tIns="0" rIns="0" bIns="0"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Si presión es Muy Alta</a:t>
            </a:r>
            <a:endParaRPr lang="en-US" sz="1300" dirty="0"/>
          </a:p>
        </p:txBody>
      </p:sp>
      <p:sp>
        <p:nvSpPr>
          <p:cNvPr id="26" name="Text 24"/>
          <p:cNvSpPr/>
          <p:nvPr/>
        </p:nvSpPr>
        <p:spPr>
          <a:xfrm>
            <a:off x="6885432" y="3630168"/>
            <a:ext cx="1828800" cy="502920"/>
          </a:xfrm>
          <a:prstGeom prst="rect">
            <a:avLst/>
          </a:prstGeom>
          <a:noFill/>
          <a:ln/>
        </p:spPr>
        <p:txBody>
          <a:bodyPr wrap="square" lIns="0" tIns="0" rIns="0" bIns="0"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  riesgo = 9.0</a:t>
            </a:r>
            <a:endParaRPr lang="en-US" sz="1600" dirty="0"/>
          </a:p>
        </p:txBody>
      </p:sp>
      <p:sp>
        <p:nvSpPr>
          <p:cNvPr id="27" name="Text 25"/>
          <p:cNvSpPr/>
          <p:nvPr/>
        </p:nvSpPr>
        <p:spPr>
          <a:xfrm>
            <a:off x="365760" y="4754880"/>
            <a:ext cx="8412480" cy="292608"/>
          </a:xfrm>
          <a:prstGeom prst="rect">
            <a:avLst/>
          </a:prstGeom>
          <a:noFill/>
          <a:ln/>
        </p:spPr>
        <p:txBody>
          <a:bodyPr wrap="square" lIns="0" tIns="0" rIns="0" bIns="0" rtlCol="0" anchor="ctr"/>
          <a:lstStyle/>
          <a:p>
            <a:pPr marL="0" indent="0" algn="l">
              <a:buNone/>
            </a:pPr>
            <a:r>
              <a:rPr lang="en-US" sz="1100" i="1" dirty="0">
                <a:solidFill>
                  <a:srgbClr val="7F8C8D"/>
                </a:solidFill>
                <a:latin typeface="Calibri" pitchFamily="34" charset="0"/>
                <a:ea typeface="Calibri" pitchFamily="34" charset="-122"/>
                <a:cs typeface="Calibri" pitchFamily="34" charset="-120"/>
              </a:rPr>
              <a:t>Los grados de pertenencia pueden solaparse: cuando la presión cae en la zona de transición entre dos conjuntos, ambas reglas se activan parcialmente y la salida es la interpolación ponderada de sus constantes.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Arquitectura de la Red ANFIS (5 Capas)</a:t>
            </a:r>
            <a:endParaRPr lang="en-US" sz="2400" dirty="0"/>
          </a:p>
        </p:txBody>
      </p:sp>
      <p:sp>
        <p:nvSpPr>
          <p:cNvPr id="4" name="Shape 2"/>
          <p:cNvSpPr/>
          <p:nvPr/>
        </p:nvSpPr>
        <p:spPr>
          <a:xfrm>
            <a:off x="365760" y="914400"/>
            <a:ext cx="502920" cy="621792"/>
          </a:xfrm>
          <a:prstGeom prst="rect">
            <a:avLst/>
          </a:prstGeom>
          <a:solidFill>
            <a:srgbClr val="117A8B"/>
          </a:solidFill>
          <a:ln w="12700">
            <a:solidFill>
              <a:srgbClr val="117A8B"/>
            </a:solidFill>
            <a:prstDash val="solid"/>
          </a:ln>
        </p:spPr>
        <p:txBody>
          <a:bodyPr/>
          <a:lstStyle/>
          <a:p>
            <a:endParaRPr lang="en-US"/>
          </a:p>
        </p:txBody>
      </p:sp>
      <p:sp>
        <p:nvSpPr>
          <p:cNvPr id="5" name="Text 3"/>
          <p:cNvSpPr/>
          <p:nvPr/>
        </p:nvSpPr>
        <p:spPr>
          <a:xfrm>
            <a:off x="365760" y="914400"/>
            <a:ext cx="50292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932688"/>
            <a:ext cx="2286000" cy="320040"/>
          </a:xfrm>
          <a:prstGeom prst="rect">
            <a:avLst/>
          </a:prstGeom>
          <a:noFill/>
          <a:ln/>
        </p:spPr>
        <p:txBody>
          <a:bodyPr wrap="square" lIns="0" tIns="0" rIns="0" bIns="0" rtlCol="0" anchor="ctr"/>
          <a:lstStyle/>
          <a:p>
            <a:pPr marL="0" indent="0">
              <a:buNone/>
            </a:pPr>
            <a:r>
              <a:rPr lang="en-US" sz="1400" b="1" dirty="0">
                <a:solidFill>
                  <a:srgbClr val="117A8B"/>
                </a:solidFill>
                <a:latin typeface="Calibri" pitchFamily="34" charset="0"/>
                <a:ea typeface="Calibri" pitchFamily="34" charset="-122"/>
                <a:cs typeface="Calibri" pitchFamily="34" charset="-120"/>
              </a:rPr>
              <a:t>Fuzzificación</a:t>
            </a:r>
            <a:endParaRPr lang="en-US" sz="1400" dirty="0"/>
          </a:p>
        </p:txBody>
      </p:sp>
      <p:sp>
        <p:nvSpPr>
          <p:cNvPr id="7" name="Text 5"/>
          <p:cNvSpPr/>
          <p:nvPr/>
        </p:nvSpPr>
        <p:spPr>
          <a:xfrm>
            <a:off x="1005840" y="1216152"/>
            <a:ext cx="7772400" cy="347472"/>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Calcula μᵢ(x) — el grado de pertenencia de la entrada x a cada conjunto difuso usando las funciones trapezoidal y triangular definidas.</a:t>
            </a:r>
            <a:endParaRPr lang="en-US" sz="1200" dirty="0"/>
          </a:p>
        </p:txBody>
      </p:sp>
      <p:sp>
        <p:nvSpPr>
          <p:cNvPr id="8" name="Shape 6"/>
          <p:cNvSpPr/>
          <p:nvPr/>
        </p:nvSpPr>
        <p:spPr>
          <a:xfrm>
            <a:off x="365760" y="1737360"/>
            <a:ext cx="502920" cy="621792"/>
          </a:xfrm>
          <a:prstGeom prst="rect">
            <a:avLst/>
          </a:prstGeom>
          <a:solidFill>
            <a:srgbClr val="1F5C8B"/>
          </a:solidFill>
          <a:ln w="12700">
            <a:solidFill>
              <a:srgbClr val="1F5C8B"/>
            </a:solidFill>
            <a:prstDash val="solid"/>
          </a:ln>
        </p:spPr>
        <p:txBody>
          <a:bodyPr/>
          <a:lstStyle/>
          <a:p>
            <a:endParaRPr lang="en-US"/>
          </a:p>
        </p:txBody>
      </p:sp>
      <p:sp>
        <p:nvSpPr>
          <p:cNvPr id="9" name="Text 7"/>
          <p:cNvSpPr/>
          <p:nvPr/>
        </p:nvSpPr>
        <p:spPr>
          <a:xfrm>
            <a:off x="365760" y="1737360"/>
            <a:ext cx="50292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005840" y="1755648"/>
            <a:ext cx="2286000" cy="320040"/>
          </a:xfrm>
          <a:prstGeom prst="rect">
            <a:avLst/>
          </a:prstGeom>
          <a:noFill/>
          <a:ln/>
        </p:spPr>
        <p:txBody>
          <a:bodyPr wrap="square" lIns="0" tIns="0" rIns="0" bIns="0" rtlCol="0" anchor="ctr"/>
          <a:lstStyle/>
          <a:p>
            <a:pPr marL="0" indent="0">
              <a:buNone/>
            </a:pPr>
            <a:r>
              <a:rPr lang="en-US" sz="1400" b="1" dirty="0">
                <a:solidFill>
                  <a:srgbClr val="1F5C8B"/>
                </a:solidFill>
                <a:latin typeface="Calibri" pitchFamily="34" charset="0"/>
                <a:ea typeface="Calibri" pitchFamily="34" charset="-122"/>
                <a:cs typeface="Calibri" pitchFamily="34" charset="-120"/>
              </a:rPr>
              <a:t>Fuerza de disparo</a:t>
            </a:r>
            <a:endParaRPr lang="en-US" sz="1400" dirty="0"/>
          </a:p>
        </p:txBody>
      </p:sp>
      <p:sp>
        <p:nvSpPr>
          <p:cNvPr id="11" name="Text 9"/>
          <p:cNvSpPr/>
          <p:nvPr/>
        </p:nvSpPr>
        <p:spPr>
          <a:xfrm>
            <a:off x="1005840" y="2039112"/>
            <a:ext cx="7772400" cy="347472"/>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Produce la fuerza de activación de cada regla: wᵢ = μᵢ(x). Con una sola entrada, la fuerza coincide directamente con el grado de pertenencia.</a:t>
            </a:r>
            <a:endParaRPr lang="en-US" sz="1200" dirty="0"/>
          </a:p>
        </p:txBody>
      </p:sp>
      <p:sp>
        <p:nvSpPr>
          <p:cNvPr id="12" name="Shape 10"/>
          <p:cNvSpPr/>
          <p:nvPr/>
        </p:nvSpPr>
        <p:spPr>
          <a:xfrm>
            <a:off x="365760" y="2560320"/>
            <a:ext cx="502920" cy="621792"/>
          </a:xfrm>
          <a:prstGeom prst="rect">
            <a:avLst/>
          </a:prstGeom>
          <a:solidFill>
            <a:srgbClr val="1E8449"/>
          </a:solidFill>
          <a:ln w="12700">
            <a:solidFill>
              <a:srgbClr val="1E8449"/>
            </a:solidFill>
            <a:prstDash val="solid"/>
          </a:ln>
        </p:spPr>
        <p:txBody>
          <a:bodyPr/>
          <a:lstStyle/>
          <a:p>
            <a:endParaRPr lang="en-US"/>
          </a:p>
        </p:txBody>
      </p:sp>
      <p:sp>
        <p:nvSpPr>
          <p:cNvPr id="13" name="Text 11"/>
          <p:cNvSpPr/>
          <p:nvPr/>
        </p:nvSpPr>
        <p:spPr>
          <a:xfrm>
            <a:off x="365760" y="2560320"/>
            <a:ext cx="50292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005840" y="2578608"/>
            <a:ext cx="2286000" cy="320040"/>
          </a:xfrm>
          <a:prstGeom prst="rect">
            <a:avLst/>
          </a:prstGeom>
          <a:noFill/>
          <a:ln/>
        </p:spPr>
        <p:txBody>
          <a:bodyPr wrap="square" lIns="0" tIns="0" rIns="0" bIns="0" rtlCol="0" anchor="ctr"/>
          <a:lstStyle/>
          <a:p>
            <a:pPr marL="0" indent="0">
              <a:buNone/>
            </a:pPr>
            <a:r>
              <a:rPr lang="en-US" sz="1400" b="1" dirty="0">
                <a:solidFill>
                  <a:srgbClr val="1E8449"/>
                </a:solidFill>
                <a:latin typeface="Calibri" pitchFamily="34" charset="0"/>
                <a:ea typeface="Calibri" pitchFamily="34" charset="-122"/>
                <a:cs typeface="Calibri" pitchFamily="34" charset="-120"/>
              </a:rPr>
              <a:t>Normalización</a:t>
            </a:r>
            <a:endParaRPr lang="en-US" sz="1400" dirty="0"/>
          </a:p>
        </p:txBody>
      </p:sp>
      <p:sp>
        <p:nvSpPr>
          <p:cNvPr id="15" name="Text 13"/>
          <p:cNvSpPr/>
          <p:nvPr/>
        </p:nvSpPr>
        <p:spPr>
          <a:xfrm>
            <a:off x="1005840" y="2862072"/>
            <a:ext cx="7772400" cy="347472"/>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Normaliza las fuerzas: w̄ᵢ = wᵢ / Σwⱼ. Garantiza que los pesos sumen 1 y que la contribución de cada regla sea proporcional a su activación.</a:t>
            </a:r>
            <a:endParaRPr lang="en-US" sz="1200" dirty="0"/>
          </a:p>
        </p:txBody>
      </p:sp>
      <p:sp>
        <p:nvSpPr>
          <p:cNvPr id="16" name="Shape 14"/>
          <p:cNvSpPr/>
          <p:nvPr/>
        </p:nvSpPr>
        <p:spPr>
          <a:xfrm>
            <a:off x="365760" y="3383280"/>
            <a:ext cx="502920" cy="621792"/>
          </a:xfrm>
          <a:prstGeom prst="rect">
            <a:avLst/>
          </a:prstGeom>
          <a:solidFill>
            <a:srgbClr val="9A7D0A"/>
          </a:solidFill>
          <a:ln w="12700">
            <a:solidFill>
              <a:srgbClr val="9A7D0A"/>
            </a:solidFill>
            <a:prstDash val="solid"/>
          </a:ln>
        </p:spPr>
        <p:txBody>
          <a:bodyPr/>
          <a:lstStyle/>
          <a:p>
            <a:endParaRPr lang="en-US"/>
          </a:p>
        </p:txBody>
      </p:sp>
      <p:sp>
        <p:nvSpPr>
          <p:cNvPr id="17" name="Text 15"/>
          <p:cNvSpPr/>
          <p:nvPr/>
        </p:nvSpPr>
        <p:spPr>
          <a:xfrm>
            <a:off x="365760" y="3383280"/>
            <a:ext cx="50292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005840" y="3401568"/>
            <a:ext cx="2286000" cy="320040"/>
          </a:xfrm>
          <a:prstGeom prst="rect">
            <a:avLst/>
          </a:prstGeom>
          <a:noFill/>
          <a:ln/>
        </p:spPr>
        <p:txBody>
          <a:bodyPr wrap="square" lIns="0" tIns="0" rIns="0" bIns="0" rtlCol="0" anchor="ctr"/>
          <a:lstStyle/>
          <a:p>
            <a:pPr marL="0" indent="0">
              <a:buNone/>
            </a:pPr>
            <a:r>
              <a:rPr lang="en-US" sz="1400" b="1" dirty="0">
                <a:solidFill>
                  <a:srgbClr val="9A7D0A"/>
                </a:solidFill>
                <a:latin typeface="Calibri" pitchFamily="34" charset="0"/>
                <a:ea typeface="Calibri" pitchFamily="34" charset="-122"/>
                <a:cs typeface="Calibri" pitchFamily="34" charset="-120"/>
              </a:rPr>
              <a:t>Consecuentes T-S</a:t>
            </a:r>
            <a:endParaRPr lang="en-US" sz="1400" dirty="0"/>
          </a:p>
        </p:txBody>
      </p:sp>
      <p:sp>
        <p:nvSpPr>
          <p:cNvPr id="19" name="Text 17"/>
          <p:cNvSpPr/>
          <p:nvPr/>
        </p:nvSpPr>
        <p:spPr>
          <a:xfrm>
            <a:off x="1005840" y="3685032"/>
            <a:ext cx="7772400" cy="347472"/>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Multiplica el peso normalizado por la constante de la regla: w̄ᵢ · fᵢ. En T-S orden 0, fᵢ ∈ {1.5, 4.0, 6.5, 9.0} — una constante, no una función de x.</a:t>
            </a:r>
            <a:endParaRPr lang="en-US" sz="1200" dirty="0"/>
          </a:p>
        </p:txBody>
      </p:sp>
      <p:sp>
        <p:nvSpPr>
          <p:cNvPr id="20" name="Shape 18"/>
          <p:cNvSpPr/>
          <p:nvPr/>
        </p:nvSpPr>
        <p:spPr>
          <a:xfrm>
            <a:off x="365760" y="4206240"/>
            <a:ext cx="502920" cy="621792"/>
          </a:xfrm>
          <a:prstGeom prst="rect">
            <a:avLst/>
          </a:prstGeom>
          <a:solidFill>
            <a:srgbClr val="C0392B"/>
          </a:solidFill>
          <a:ln w="12700">
            <a:solidFill>
              <a:srgbClr val="C0392B"/>
            </a:solidFill>
            <a:prstDash val="solid"/>
          </a:ln>
        </p:spPr>
        <p:txBody>
          <a:bodyPr/>
          <a:lstStyle/>
          <a:p>
            <a:endParaRPr lang="en-US"/>
          </a:p>
        </p:txBody>
      </p:sp>
      <p:sp>
        <p:nvSpPr>
          <p:cNvPr id="21" name="Text 19"/>
          <p:cNvSpPr/>
          <p:nvPr/>
        </p:nvSpPr>
        <p:spPr>
          <a:xfrm>
            <a:off x="365760" y="4206240"/>
            <a:ext cx="502920" cy="62179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1005840" y="4224528"/>
            <a:ext cx="2286000" cy="320040"/>
          </a:xfrm>
          <a:prstGeom prst="rect">
            <a:avLst/>
          </a:prstGeom>
          <a:noFill/>
          <a:ln/>
        </p:spPr>
        <p:txBody>
          <a:bodyPr wrap="square" lIns="0" tIns="0" rIns="0" bIns="0"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Salida</a:t>
            </a:r>
            <a:endParaRPr lang="en-US" sz="1400" dirty="0"/>
          </a:p>
        </p:txBody>
      </p:sp>
      <p:sp>
        <p:nvSpPr>
          <p:cNvPr id="23" name="Text 21"/>
          <p:cNvSpPr/>
          <p:nvPr/>
        </p:nvSpPr>
        <p:spPr>
          <a:xfrm>
            <a:off x="1005840" y="4507992"/>
            <a:ext cx="7772400" cy="347472"/>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Suma los productos de la capa anterior: y = Σ w̄ᵢ · fᵢ. Esta es la salida defuzzificada de la red — el nivel de riesgo cardiovascular.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3E5BF-A008-AF40-2A75-A33754011A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2FA3D9-43E8-1AFA-A678-C6DD595FBAA9}"/>
              </a:ext>
            </a:extLst>
          </p:cNvPr>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a:extLst>
              <a:ext uri="{FF2B5EF4-FFF2-40B4-BE49-F238E27FC236}">
                <a16:creationId xmlns:a16="http://schemas.microsoft.com/office/drawing/2014/main" id="{5EBFBEBF-CF3C-BB35-17E9-C5B7F814944C}"/>
              </a:ext>
            </a:extLst>
          </p:cNvPr>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Arquitectura de la Red ANFIS (5 Capas)</a:t>
            </a:r>
            <a:endParaRPr lang="en-US" sz="2400" dirty="0"/>
          </a:p>
        </p:txBody>
      </p:sp>
      <p:pic>
        <p:nvPicPr>
          <p:cNvPr id="25" name="Picture 24">
            <a:extLst>
              <a:ext uri="{FF2B5EF4-FFF2-40B4-BE49-F238E27FC236}">
                <a16:creationId xmlns:a16="http://schemas.microsoft.com/office/drawing/2014/main" id="{5F405BEF-0650-42BF-AAE2-9920A0A09C4A}"/>
              </a:ext>
            </a:extLst>
          </p:cNvPr>
          <p:cNvPicPr>
            <a:picLocks noChangeAspect="1"/>
          </p:cNvPicPr>
          <p:nvPr/>
        </p:nvPicPr>
        <p:blipFill>
          <a:blip r:embed="rId3"/>
          <a:stretch>
            <a:fillRect/>
          </a:stretch>
        </p:blipFill>
        <p:spPr>
          <a:xfrm>
            <a:off x="200051" y="894129"/>
            <a:ext cx="8743898" cy="4249371"/>
          </a:xfrm>
          <a:prstGeom prst="rect">
            <a:avLst/>
          </a:prstGeom>
        </p:spPr>
      </p:pic>
    </p:spTree>
    <p:extLst>
      <p:ext uri="{BB962C8B-B14F-4D97-AF65-F5344CB8AC3E}">
        <p14:creationId xmlns:p14="http://schemas.microsoft.com/office/powerpoint/2010/main" val="1604034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Gráfica 1 – Señal de Entrada</a:t>
            </a:r>
            <a:endParaRPr lang="en-US" sz="2400" dirty="0"/>
          </a:p>
        </p:txBody>
      </p:sp>
      <p:pic>
        <p:nvPicPr>
          <p:cNvPr id="4" name="Image 0" descr="/sessions/stoic-pensive-bell/mnt/outputs/grafica1_entrada.png"/>
          <p:cNvPicPr>
            <a:picLocks noChangeAspect="1"/>
          </p:cNvPicPr>
          <p:nvPr/>
        </p:nvPicPr>
        <p:blipFill>
          <a:blip r:embed="rId3"/>
          <a:stretch>
            <a:fillRect/>
          </a:stretch>
        </p:blipFill>
        <p:spPr>
          <a:xfrm>
            <a:off x="457200" y="777240"/>
            <a:ext cx="8229600" cy="3977640"/>
          </a:xfrm>
          <a:prstGeom prst="rect">
            <a:avLst/>
          </a:prstGeom>
        </p:spPr>
      </p:pic>
      <p:sp>
        <p:nvSpPr>
          <p:cNvPr id="5" name="Text 2"/>
          <p:cNvSpPr/>
          <p:nvPr/>
        </p:nvSpPr>
        <p:spPr>
          <a:xfrm>
            <a:off x="365760" y="4800600"/>
            <a:ext cx="8412480" cy="274320"/>
          </a:xfrm>
          <a:prstGeom prst="rect">
            <a:avLst/>
          </a:prstGeom>
          <a:noFill/>
          <a:ln/>
        </p:spPr>
        <p:txBody>
          <a:bodyPr wrap="square" lIns="0" tIns="0" rIns="0" bIns="0" rtlCol="0" anchor="ctr"/>
          <a:lstStyle/>
          <a:p>
            <a:pPr marL="0" indent="0" algn="ctr">
              <a:buNone/>
            </a:pPr>
            <a:r>
              <a:rPr lang="en-US" sz="1100" i="1" dirty="0">
                <a:solidFill>
                  <a:srgbClr val="7F8C8D"/>
                </a:solidFill>
                <a:latin typeface="Calibri" pitchFamily="34" charset="0"/>
                <a:ea typeface="Calibri" pitchFamily="34" charset="-122"/>
                <a:cs typeface="Calibri" pitchFamily="34" charset="-120"/>
              </a:rPr>
              <a:t>Barrido del universo de discurso: 80 a 200 mmHg — presión arterial sistólica como señal de entrada a la red.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Gráfica 2 – Salida de la Red Neurodifusa</a:t>
            </a:r>
            <a:endParaRPr lang="en-US" sz="2400" dirty="0"/>
          </a:p>
        </p:txBody>
      </p:sp>
      <p:pic>
        <p:nvPicPr>
          <p:cNvPr id="4" name="Image 0" descr="/sessions/stoic-pensive-bell/mnt/outputs/grafica2_salida.png"/>
          <p:cNvPicPr>
            <a:picLocks noChangeAspect="1"/>
          </p:cNvPicPr>
          <p:nvPr/>
        </p:nvPicPr>
        <p:blipFill>
          <a:blip r:embed="rId3"/>
          <a:stretch>
            <a:fillRect/>
          </a:stretch>
        </p:blipFill>
        <p:spPr>
          <a:xfrm>
            <a:off x="457200" y="777240"/>
            <a:ext cx="8229600" cy="3977640"/>
          </a:xfrm>
          <a:prstGeom prst="rect">
            <a:avLst/>
          </a:prstGeom>
        </p:spPr>
      </p:pic>
      <p:sp>
        <p:nvSpPr>
          <p:cNvPr id="5" name="Text 2"/>
          <p:cNvSpPr/>
          <p:nvPr/>
        </p:nvSpPr>
        <p:spPr>
          <a:xfrm>
            <a:off x="365760" y="4800600"/>
            <a:ext cx="8412480" cy="274320"/>
          </a:xfrm>
          <a:prstGeom prst="rect">
            <a:avLst/>
          </a:prstGeom>
          <a:noFill/>
          <a:ln/>
        </p:spPr>
        <p:txBody>
          <a:bodyPr wrap="square" lIns="0" tIns="0" rIns="0" bIns="0" rtlCol="0" anchor="ctr"/>
          <a:lstStyle/>
          <a:p>
            <a:pPr marL="0" indent="0" algn="ctr">
              <a:buNone/>
            </a:pPr>
            <a:r>
              <a:rPr lang="en-US" sz="1100" i="1" dirty="0">
                <a:solidFill>
                  <a:srgbClr val="7F8C8D"/>
                </a:solidFill>
                <a:latin typeface="Calibri" pitchFamily="34" charset="0"/>
                <a:ea typeface="Calibri" pitchFamily="34" charset="-122"/>
                <a:cs typeface="Calibri" pitchFamily="34" charset="-120"/>
              </a:rPr>
              <a:t>Respuesta de la red: nivel de riesgo cardiovascular (0–10) en función de la presión sistólica de entrada.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Gráfica 3 – Conjuntos Difusos (Funciones de Pertenencia)</a:t>
            </a:r>
            <a:endParaRPr lang="en-US" sz="2200" dirty="0"/>
          </a:p>
        </p:txBody>
      </p:sp>
      <p:pic>
        <p:nvPicPr>
          <p:cNvPr id="4" name="Image 0" descr="/sessions/stoic-pensive-bell/mnt/outputs/grafica3_conjuntos.png"/>
          <p:cNvPicPr>
            <a:picLocks noChangeAspect="1"/>
          </p:cNvPicPr>
          <p:nvPr/>
        </p:nvPicPr>
        <p:blipFill>
          <a:blip r:embed="rId3"/>
          <a:stretch>
            <a:fillRect/>
          </a:stretch>
        </p:blipFill>
        <p:spPr>
          <a:xfrm>
            <a:off x="457200" y="777240"/>
            <a:ext cx="8229600" cy="3977640"/>
          </a:xfrm>
          <a:prstGeom prst="rect">
            <a:avLst/>
          </a:prstGeom>
        </p:spPr>
      </p:pic>
      <p:sp>
        <p:nvSpPr>
          <p:cNvPr id="5" name="Text 2"/>
          <p:cNvSpPr/>
          <p:nvPr/>
        </p:nvSpPr>
        <p:spPr>
          <a:xfrm>
            <a:off x="365760" y="4800600"/>
            <a:ext cx="8412480" cy="274320"/>
          </a:xfrm>
          <a:prstGeom prst="rect">
            <a:avLst/>
          </a:prstGeom>
          <a:noFill/>
          <a:ln/>
        </p:spPr>
        <p:txBody>
          <a:bodyPr wrap="square" lIns="0" tIns="0" rIns="0" bIns="0" rtlCol="0" anchor="ctr"/>
          <a:lstStyle/>
          <a:p>
            <a:pPr marL="0" indent="0" algn="ctr">
              <a:buNone/>
            </a:pPr>
            <a:r>
              <a:rPr lang="en-US" sz="1100" i="1" dirty="0">
                <a:solidFill>
                  <a:srgbClr val="7F8C8D"/>
                </a:solidFill>
                <a:latin typeface="Calibri" pitchFamily="34" charset="0"/>
                <a:ea typeface="Calibri" pitchFamily="34" charset="-122"/>
                <a:cs typeface="Calibri" pitchFamily="34" charset="-120"/>
              </a:rPr>
              <a:t>Cada conjunto difuso representa un estado lingüístico de la presión arterial. Las anotaciones f= indican la constante T-S asociada a cada regla.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Ejemplos de Inferencia Puntual</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23774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Presión (mmHg)</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μ Normal</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μ Elevada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μ Alta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μ Muy Alta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Riesgo</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Diagnóstico</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F5C8B"/>
                    </a:solidFill>
                  </a:tcPr>
                </a:tc>
                <a:extLst>
                  <a:ext uri="{0D108BD9-81ED-4DB2-BD59-A6C34878D82A}">
                    <a16:rowId xmlns:a16="http://schemas.microsoft.com/office/drawing/2014/main" val="10000"/>
                  </a:ext>
                </a:extLst>
              </a:tr>
              <a:tr h="47548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8449"/>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8449"/>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8449"/>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9A7D0A"/>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9A7D0A"/>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9A7D0A"/>
                          </a:solidFill>
                          <a:latin typeface="Calibri" pitchFamily="34" charset="0"/>
                          <a:ea typeface="Calibri" pitchFamily="34" charset="-122"/>
                          <a:cs typeface="Calibri" pitchFamily="34" charset="-120"/>
                        </a:rPr>
                        <a:t>Elevada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A04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A04000"/>
                          </a:solidFill>
                          <a:latin typeface="Calibri" pitchFamily="34" charset="0"/>
                          <a:ea typeface="Calibri" pitchFamily="34" charset="-122"/>
                          <a:cs typeface="Calibri" pitchFamily="34" charset="-120"/>
                        </a:rPr>
                        <a:t>6.50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A04000"/>
                          </a:solidFill>
                          <a:latin typeface="Calibri" pitchFamily="34" charset="0"/>
                          <a:ea typeface="Calibri" pitchFamily="34" charset="-122"/>
                          <a:cs typeface="Calibri" pitchFamily="34" charset="-120"/>
                        </a:rPr>
                        <a:t>Alta</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185</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039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C0392B"/>
                          </a:solidFill>
                          <a:latin typeface="Calibri" pitchFamily="34" charset="0"/>
                          <a:ea typeface="Calibri" pitchFamily="34" charset="-122"/>
                          <a:cs typeface="Calibri" pitchFamily="34" charset="-120"/>
                        </a:rPr>
                        <a:t>9.00</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C0392B"/>
                          </a:solidFill>
                          <a:latin typeface="Calibri" pitchFamily="34" charset="0"/>
                          <a:ea typeface="Calibri" pitchFamily="34" charset="-122"/>
                          <a:cs typeface="Calibri" pitchFamily="34" charset="-120"/>
                        </a:rPr>
                        <a:t>Crisis</a:t>
                      </a:r>
                      <a:endParaRPr lang="en-US" sz="130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365760" y="3520440"/>
            <a:ext cx="8412480" cy="1280160"/>
          </a:xfrm>
          <a:prstGeom prst="rect">
            <a:avLst/>
          </a:prstGeom>
          <a:solidFill>
            <a:srgbClr val="D6E4F0"/>
          </a:solidFill>
          <a:ln w="9525">
            <a:solidFill>
              <a:srgbClr val="1F5C8B"/>
            </a:solidFill>
            <a:prstDash val="solid"/>
          </a:ln>
        </p:spPr>
        <p:txBody>
          <a:bodyPr/>
          <a:lstStyle/>
          <a:p>
            <a:endParaRPr lang="en-US"/>
          </a:p>
        </p:txBody>
      </p:sp>
      <p:sp>
        <p:nvSpPr>
          <p:cNvPr id="6" name="Text 3"/>
          <p:cNvSpPr/>
          <p:nvPr/>
        </p:nvSpPr>
        <p:spPr>
          <a:xfrm>
            <a:off x="548640" y="3611880"/>
            <a:ext cx="8046720" cy="347472"/>
          </a:xfrm>
          <a:prstGeom prst="rect">
            <a:avLst/>
          </a:prstGeom>
          <a:noFill/>
          <a:ln/>
        </p:spPr>
        <p:txBody>
          <a:bodyPr wrap="square" lIns="0" tIns="0" rIns="0" bIns="0" rtlCol="0" anchor="ctr"/>
          <a:lstStyle/>
          <a:p>
            <a:pPr marL="0" indent="0">
              <a:buNone/>
            </a:pPr>
            <a:r>
              <a:rPr lang="en-US" sz="1400" b="1" dirty="0">
                <a:solidFill>
                  <a:srgbClr val="142850"/>
                </a:solidFill>
                <a:latin typeface="Calibri" pitchFamily="34" charset="0"/>
                <a:ea typeface="Calibri" pitchFamily="34" charset="-122"/>
                <a:cs typeface="Calibri" pitchFamily="34" charset="-120"/>
              </a:rPr>
              <a:t>Ejemplo de zona de transición (interpolación):</a:t>
            </a:r>
            <a:endParaRPr lang="en-US" sz="1400" dirty="0"/>
          </a:p>
        </p:txBody>
      </p:sp>
      <p:sp>
        <p:nvSpPr>
          <p:cNvPr id="7" name="Text 4"/>
          <p:cNvSpPr/>
          <p:nvPr/>
        </p:nvSpPr>
        <p:spPr>
          <a:xfrm>
            <a:off x="548640" y="3977640"/>
            <a:ext cx="8046720" cy="731520"/>
          </a:xfrm>
          <a:prstGeom prst="rect">
            <a:avLst/>
          </a:prstGeom>
          <a:noFill/>
          <a:ln/>
        </p:spPr>
        <p:txBody>
          <a:bodyPr wrap="square" lIns="0" tIns="0" rIns="0" bIns="0" rtlCol="0" anchor="ctr"/>
          <a:lstStyle/>
          <a:p>
            <a:pPr marL="0" indent="0">
              <a:buNone/>
            </a:pPr>
            <a:r>
              <a:rPr lang="en-US" sz="1300" dirty="0">
                <a:solidFill>
                  <a:srgbClr val="142850"/>
                </a:solidFill>
                <a:latin typeface="Calibri" pitchFamily="34" charset="0"/>
                <a:ea typeface="Calibri" pitchFamily="34" charset="-122"/>
                <a:cs typeface="Calibri" pitchFamily="34" charset="-120"/>
              </a:rPr>
              <a:t>Para x = 120 mmHg: μ_Normal = 0.50, μ_Elevada = 0.33 → w̄_N = 0.60, w̄_E = 0.40</a:t>
            </a:r>
            <a:endParaRPr lang="en-US" sz="1300" dirty="0"/>
          </a:p>
          <a:p>
            <a:pPr marL="0" indent="0">
              <a:buNone/>
            </a:pPr>
            <a:r>
              <a:rPr lang="en-US" sz="1300" dirty="0">
                <a:solidFill>
                  <a:srgbClr val="142850"/>
                </a:solidFill>
                <a:latin typeface="Calibri" pitchFamily="34" charset="0"/>
                <a:ea typeface="Calibri" pitchFamily="34" charset="-122"/>
                <a:cs typeface="Calibri" pitchFamily="34" charset="-120"/>
              </a:rPr>
              <a:t>Salida = 0.60 × 1.5 + 0.40 × 4.0 = 0.90 + 1.60 = 2.50  (interpolación suave entre Normal y Elevada)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84F18-8151-7D52-B17E-06A26A572F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EB02E6C-F189-5DF1-2953-ABEA9C7C3BA5}"/>
              </a:ext>
            </a:extLst>
          </p:cNvPr>
          <p:cNvSpPr/>
          <p:nvPr/>
        </p:nvSpPr>
        <p:spPr>
          <a:xfrm>
            <a:off x="0" y="0"/>
            <a:ext cx="9144000" cy="777240"/>
          </a:xfrm>
          <a:prstGeom prst="rect">
            <a:avLst/>
          </a:prstGeom>
          <a:solidFill>
            <a:srgbClr val="142850"/>
          </a:solidFill>
          <a:ln w="12700">
            <a:solidFill>
              <a:srgbClr val="142850"/>
            </a:solidFill>
            <a:prstDash val="solid"/>
          </a:ln>
        </p:spPr>
        <p:txBody>
          <a:bodyPr/>
          <a:lstStyle/>
          <a:p>
            <a:endParaRPr lang="en-US"/>
          </a:p>
        </p:txBody>
      </p:sp>
      <p:sp>
        <p:nvSpPr>
          <p:cNvPr id="3" name="Text 1">
            <a:extLst>
              <a:ext uri="{FF2B5EF4-FFF2-40B4-BE49-F238E27FC236}">
                <a16:creationId xmlns:a16="http://schemas.microsoft.com/office/drawing/2014/main" id="{43E9292A-C088-1F00-64A4-5FCE623DFBBA}"/>
              </a:ext>
            </a:extLst>
          </p:cNvPr>
          <p:cNvSpPr/>
          <p:nvPr/>
        </p:nvSpPr>
        <p:spPr>
          <a:xfrm>
            <a:off x="365760" y="0"/>
            <a:ext cx="8412480" cy="777240"/>
          </a:xfrm>
          <a:prstGeom prst="rect">
            <a:avLst/>
          </a:prstGeom>
          <a:noFill/>
          <a:ln/>
        </p:spPr>
        <p:txBody>
          <a:bodyPr wrap="square" lIns="0" tIns="0" rIns="0" bIns="0" rtlCol="0" anchor="ctr"/>
          <a:lstStyle/>
          <a:p>
            <a:pPr marL="0" indent="0" algn="l">
              <a:buNone/>
            </a:pPr>
            <a:r>
              <a:rPr lang="es-ES_tradnl" sz="2400" b="1" noProof="0" dirty="0">
                <a:solidFill>
                  <a:srgbClr val="FFFFFF"/>
                </a:solidFill>
                <a:latin typeface="Calibri" pitchFamily="34" charset="0"/>
                <a:cs typeface="Calibri" pitchFamily="34" charset="-120"/>
              </a:rPr>
              <a:t>Captura de ejecución</a:t>
            </a:r>
            <a:endParaRPr lang="es-ES_tradnl" sz="2400" noProof="0" dirty="0"/>
          </a:p>
        </p:txBody>
      </p:sp>
      <p:pic>
        <p:nvPicPr>
          <p:cNvPr id="4" name="Picture 3">
            <a:extLst>
              <a:ext uri="{FF2B5EF4-FFF2-40B4-BE49-F238E27FC236}">
                <a16:creationId xmlns:a16="http://schemas.microsoft.com/office/drawing/2014/main" id="{A260EC59-8E67-4F00-DAFB-36509C0CE5C3}"/>
              </a:ext>
            </a:extLst>
          </p:cNvPr>
          <p:cNvPicPr>
            <a:picLocks noChangeAspect="1"/>
          </p:cNvPicPr>
          <p:nvPr/>
        </p:nvPicPr>
        <p:blipFill>
          <a:blip r:embed="rId3"/>
          <a:stretch>
            <a:fillRect/>
          </a:stretch>
        </p:blipFill>
        <p:spPr>
          <a:xfrm>
            <a:off x="1650273" y="844290"/>
            <a:ext cx="5843453" cy="4299210"/>
          </a:xfrm>
          <a:prstGeom prst="rect">
            <a:avLst/>
          </a:prstGeom>
        </p:spPr>
      </p:pic>
    </p:spTree>
    <p:extLst>
      <p:ext uri="{BB962C8B-B14F-4D97-AF65-F5344CB8AC3E}">
        <p14:creationId xmlns:p14="http://schemas.microsoft.com/office/powerpoint/2010/main" val="3178756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4285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txBody>
          <a:bodyPr/>
          <a:lstStyle/>
          <a:p>
            <a:endParaRPr lang="en-US"/>
          </a:p>
        </p:txBody>
      </p:sp>
      <p:sp>
        <p:nvSpPr>
          <p:cNvPr id="3" name="Text 1"/>
          <p:cNvSpPr/>
          <p:nvPr/>
        </p:nvSpPr>
        <p:spPr>
          <a:xfrm>
            <a:off x="365760" y="365760"/>
            <a:ext cx="8412480" cy="64008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Conclusiones</a:t>
            </a:r>
            <a:endParaRPr lang="en-US" sz="3600" dirty="0"/>
          </a:p>
        </p:txBody>
      </p:sp>
      <p:sp>
        <p:nvSpPr>
          <p:cNvPr id="4" name="Shape 2"/>
          <p:cNvSpPr/>
          <p:nvPr/>
        </p:nvSpPr>
        <p:spPr>
          <a:xfrm>
            <a:off x="365760" y="1143000"/>
            <a:ext cx="54864" cy="640080"/>
          </a:xfrm>
          <a:prstGeom prst="rect">
            <a:avLst/>
          </a:prstGeom>
          <a:solidFill>
            <a:srgbClr val="1E8449"/>
          </a:solidFill>
          <a:ln w="12700">
            <a:solidFill>
              <a:srgbClr val="1E8449"/>
            </a:solidFill>
            <a:prstDash val="solid"/>
          </a:ln>
        </p:spPr>
        <p:txBody>
          <a:bodyPr/>
          <a:lstStyle/>
          <a:p>
            <a:endParaRPr lang="en-US"/>
          </a:p>
        </p:txBody>
      </p:sp>
      <p:sp>
        <p:nvSpPr>
          <p:cNvPr id="5" name="Text 3"/>
          <p:cNvSpPr/>
          <p:nvPr/>
        </p:nvSpPr>
        <p:spPr>
          <a:xfrm>
            <a:off x="594360" y="1161288"/>
            <a:ext cx="822960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Representación lingüística efectiva</a:t>
            </a:r>
            <a:endParaRPr lang="en-US" sz="1500" dirty="0"/>
          </a:p>
        </p:txBody>
      </p:sp>
      <p:sp>
        <p:nvSpPr>
          <p:cNvPr id="6" name="Text 4"/>
          <p:cNvSpPr/>
          <p:nvPr/>
        </p:nvSpPr>
        <p:spPr>
          <a:xfrm>
            <a:off x="594360" y="1453896"/>
            <a:ext cx="8229600" cy="347472"/>
          </a:xfrm>
          <a:prstGeom prst="rect">
            <a:avLst/>
          </a:prstGeom>
          <a:noFill/>
          <a:ln/>
        </p:spPr>
        <p:txBody>
          <a:bodyPr wrap="square" lIns="0" tIns="0" rIns="0" bIns="0" rtlCol="0" anchor="ctr"/>
          <a:lstStyle/>
          <a:p>
            <a:pPr marL="0" indent="0">
              <a:buNone/>
            </a:pPr>
            <a:r>
              <a:rPr lang="en-US" sz="1200" dirty="0">
                <a:solidFill>
                  <a:srgbClr val="A8D4F5"/>
                </a:solidFill>
                <a:latin typeface="Calibri" pitchFamily="34" charset="0"/>
                <a:ea typeface="Calibri" pitchFamily="34" charset="-122"/>
                <a:cs typeface="Calibri" pitchFamily="34" charset="-120"/>
              </a:rPr>
              <a:t>Los 4 conjuntos difusos cubren todo el universo de discurso (80–200 mmHg) sin huecos, gracias al solapamiento entre conjuntos adyacentes.</a:t>
            </a:r>
            <a:endParaRPr lang="en-US" sz="1200" dirty="0"/>
          </a:p>
        </p:txBody>
      </p:sp>
      <p:sp>
        <p:nvSpPr>
          <p:cNvPr id="7" name="Shape 5"/>
          <p:cNvSpPr/>
          <p:nvPr/>
        </p:nvSpPr>
        <p:spPr>
          <a:xfrm>
            <a:off x="365760" y="2057400"/>
            <a:ext cx="54864" cy="640080"/>
          </a:xfrm>
          <a:prstGeom prst="rect">
            <a:avLst/>
          </a:prstGeom>
          <a:solidFill>
            <a:srgbClr val="117A8B"/>
          </a:solidFill>
          <a:ln w="12700">
            <a:solidFill>
              <a:srgbClr val="117A8B"/>
            </a:solidFill>
            <a:prstDash val="solid"/>
          </a:ln>
        </p:spPr>
        <p:txBody>
          <a:bodyPr/>
          <a:lstStyle/>
          <a:p>
            <a:endParaRPr lang="en-US"/>
          </a:p>
        </p:txBody>
      </p:sp>
      <p:sp>
        <p:nvSpPr>
          <p:cNvPr id="8" name="Text 6"/>
          <p:cNvSpPr/>
          <p:nvPr/>
        </p:nvSpPr>
        <p:spPr>
          <a:xfrm>
            <a:off x="594360" y="2075688"/>
            <a:ext cx="822960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Funciones de pertenencia apropiadas</a:t>
            </a:r>
            <a:endParaRPr lang="en-US" sz="1500" dirty="0"/>
          </a:p>
        </p:txBody>
      </p:sp>
      <p:sp>
        <p:nvSpPr>
          <p:cNvPr id="9" name="Text 7"/>
          <p:cNvSpPr/>
          <p:nvPr/>
        </p:nvSpPr>
        <p:spPr>
          <a:xfrm>
            <a:off x="594360" y="2368296"/>
            <a:ext cx="8229600" cy="347472"/>
          </a:xfrm>
          <a:prstGeom prst="rect">
            <a:avLst/>
          </a:prstGeom>
          <a:noFill/>
          <a:ln/>
        </p:spPr>
        <p:txBody>
          <a:bodyPr wrap="square" lIns="0" tIns="0" rIns="0" bIns="0" rtlCol="0" anchor="ctr"/>
          <a:lstStyle/>
          <a:p>
            <a:pPr marL="0" indent="0">
              <a:buNone/>
            </a:pPr>
            <a:r>
              <a:rPr lang="en-US" sz="1200" dirty="0">
                <a:solidFill>
                  <a:srgbClr val="A8D4F5"/>
                </a:solidFill>
                <a:latin typeface="Calibri" pitchFamily="34" charset="0"/>
                <a:ea typeface="Calibri" pitchFamily="34" charset="-122"/>
                <a:cs typeface="Calibri" pitchFamily="34" charset="-120"/>
              </a:rPr>
              <a:t>La combinación trapezoidal-triangular captura tanto los rangos abiertos de los extremos clínicos como las transiciones graduales de los estados intermedios.</a:t>
            </a:r>
            <a:endParaRPr lang="en-US" sz="1200" dirty="0"/>
          </a:p>
        </p:txBody>
      </p:sp>
      <p:sp>
        <p:nvSpPr>
          <p:cNvPr id="10" name="Shape 8"/>
          <p:cNvSpPr/>
          <p:nvPr/>
        </p:nvSpPr>
        <p:spPr>
          <a:xfrm>
            <a:off x="365760" y="2971800"/>
            <a:ext cx="54864" cy="640080"/>
          </a:xfrm>
          <a:prstGeom prst="rect">
            <a:avLst/>
          </a:prstGeom>
          <a:solidFill>
            <a:srgbClr val="9A7D0A"/>
          </a:solidFill>
          <a:ln w="12700">
            <a:solidFill>
              <a:srgbClr val="9A7D0A"/>
            </a:solidFill>
            <a:prstDash val="solid"/>
          </a:ln>
        </p:spPr>
        <p:txBody>
          <a:bodyPr/>
          <a:lstStyle/>
          <a:p>
            <a:endParaRPr lang="en-US"/>
          </a:p>
        </p:txBody>
      </p:sp>
      <p:sp>
        <p:nvSpPr>
          <p:cNvPr id="11" name="Text 9"/>
          <p:cNvSpPr/>
          <p:nvPr/>
        </p:nvSpPr>
        <p:spPr>
          <a:xfrm>
            <a:off x="594360" y="2990088"/>
            <a:ext cx="822960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Salida interpolada y suave</a:t>
            </a:r>
            <a:endParaRPr lang="en-US" sz="1500" dirty="0"/>
          </a:p>
        </p:txBody>
      </p:sp>
      <p:sp>
        <p:nvSpPr>
          <p:cNvPr id="12" name="Text 10"/>
          <p:cNvSpPr/>
          <p:nvPr/>
        </p:nvSpPr>
        <p:spPr>
          <a:xfrm>
            <a:off x="594360" y="3282696"/>
            <a:ext cx="8229600" cy="347472"/>
          </a:xfrm>
          <a:prstGeom prst="rect">
            <a:avLst/>
          </a:prstGeom>
          <a:noFill/>
          <a:ln/>
        </p:spPr>
        <p:txBody>
          <a:bodyPr wrap="square" lIns="0" tIns="0" rIns="0" bIns="0" rtlCol="0" anchor="ctr"/>
          <a:lstStyle/>
          <a:p>
            <a:pPr marL="0" indent="0">
              <a:buNone/>
            </a:pPr>
            <a:r>
              <a:rPr lang="en-US" sz="1200" dirty="0">
                <a:solidFill>
                  <a:srgbClr val="A8D4F5"/>
                </a:solidFill>
                <a:latin typeface="Calibri" pitchFamily="34" charset="0"/>
                <a:ea typeface="Calibri" pitchFamily="34" charset="-122"/>
                <a:cs typeface="Calibri" pitchFamily="34" charset="-120"/>
              </a:rPr>
              <a:t>La red produce una curva continua (no escalonada) de riesgo gracias a la normalización de pesos, lo que refleja la naturaleza gradual de la hipertensión.</a:t>
            </a:r>
            <a:endParaRPr lang="en-US" sz="1200" dirty="0"/>
          </a:p>
        </p:txBody>
      </p:sp>
      <p:sp>
        <p:nvSpPr>
          <p:cNvPr id="13" name="Shape 11"/>
          <p:cNvSpPr/>
          <p:nvPr/>
        </p:nvSpPr>
        <p:spPr>
          <a:xfrm>
            <a:off x="365760" y="3886200"/>
            <a:ext cx="54864" cy="640080"/>
          </a:xfrm>
          <a:prstGeom prst="rect">
            <a:avLst/>
          </a:prstGeom>
          <a:solidFill>
            <a:srgbClr val="C0392B"/>
          </a:solidFill>
          <a:ln w="12700">
            <a:solidFill>
              <a:srgbClr val="C0392B"/>
            </a:solidFill>
            <a:prstDash val="solid"/>
          </a:ln>
        </p:spPr>
        <p:txBody>
          <a:bodyPr/>
          <a:lstStyle/>
          <a:p>
            <a:endParaRPr lang="en-US"/>
          </a:p>
        </p:txBody>
      </p:sp>
      <p:sp>
        <p:nvSpPr>
          <p:cNvPr id="14" name="Text 12"/>
          <p:cNvSpPr/>
          <p:nvPr/>
        </p:nvSpPr>
        <p:spPr>
          <a:xfrm>
            <a:off x="594360" y="3904488"/>
            <a:ext cx="822960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T-S orden 0: simplicidad y eficiencia</a:t>
            </a:r>
            <a:endParaRPr lang="en-US" sz="1500" dirty="0"/>
          </a:p>
        </p:txBody>
      </p:sp>
      <p:sp>
        <p:nvSpPr>
          <p:cNvPr id="15" name="Text 13"/>
          <p:cNvSpPr/>
          <p:nvPr/>
        </p:nvSpPr>
        <p:spPr>
          <a:xfrm>
            <a:off x="594360" y="4197096"/>
            <a:ext cx="8229600" cy="347472"/>
          </a:xfrm>
          <a:prstGeom prst="rect">
            <a:avLst/>
          </a:prstGeom>
          <a:noFill/>
          <a:ln/>
        </p:spPr>
        <p:txBody>
          <a:bodyPr wrap="square" lIns="0" tIns="0" rIns="0" bIns="0" rtlCol="0" anchor="ctr"/>
          <a:lstStyle/>
          <a:p>
            <a:pPr marL="0" indent="0">
              <a:buNone/>
            </a:pPr>
            <a:r>
              <a:rPr lang="en-US" sz="1200" dirty="0">
                <a:solidFill>
                  <a:srgbClr val="A8D4F5"/>
                </a:solidFill>
                <a:latin typeface="Calibri" pitchFamily="34" charset="0"/>
                <a:ea typeface="Calibri" pitchFamily="34" charset="-122"/>
                <a:cs typeface="Calibri" pitchFamily="34" charset="-120"/>
              </a:rPr>
              <a:t>Al usar consecuentes constantes, el modelo es interpretable, computacionalmente ligero y suficiente para este problema de una sola entrada.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991</Words>
  <Application>Microsoft Macintosh PowerPoint</Application>
  <PresentationFormat>On-screen Show (16:9)</PresentationFormat>
  <Paragraphs>162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Neurodifusa Takagi-Sugeno Orden 0</dc:title>
  <dc:subject>PptxGenJS Presentation</dc:subject>
  <dc:creator>Arturo Olvera</dc:creator>
  <cp:lastModifiedBy>MODESTO ARTURO OLVERA ALVARADO</cp:lastModifiedBy>
  <cp:revision>2</cp:revision>
  <dcterms:created xsi:type="dcterms:W3CDTF">2026-06-20T20:15:27Z</dcterms:created>
  <dcterms:modified xsi:type="dcterms:W3CDTF">2026-06-21T01:27:53Z</dcterms:modified>
</cp:coreProperties>
</file>